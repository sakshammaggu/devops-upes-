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74" r:id="rId4"/>
    <p:sldId id="275" r:id="rId5"/>
    <p:sldId id="276" r:id="rId6"/>
    <p:sldId id="277" r:id="rId7"/>
    <p:sldId id="278" r:id="rId8"/>
    <p:sldId id="282" r:id="rId9"/>
    <p:sldId id="288" r:id="rId10"/>
    <p:sldId id="291" r:id="rId11"/>
    <p:sldId id="292" r:id="rId12"/>
    <p:sldId id="293" r:id="rId13"/>
    <p:sldId id="294" r:id="rId14"/>
    <p:sldId id="295"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64" d="100"/>
          <a:sy n="64" d="100"/>
        </p:scale>
        <p:origin x="96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A3F94E9E-4B30-4CEA-834E-1903206AF8C6}" type="datetimeFigureOut">
              <a:rPr lang="en-US" smtClean="0"/>
              <a:t>3/23/2025</a:t>
            </a:fld>
            <a:endParaRPr lang="en-US"/>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EC04D6C9-78A0-406C-A917-BEDA2B0DE611}" type="slidenum">
              <a:rPr lang="en-US" smtClean="0"/>
              <a:t>‹#›</a:t>
            </a:fld>
            <a:endParaRPr lang="en-US"/>
          </a:p>
        </p:txBody>
      </p:sp>
    </p:spTree>
    <p:extLst>
      <p:ext uri="{BB962C8B-B14F-4D97-AF65-F5344CB8AC3E}">
        <p14:creationId xmlns:p14="http://schemas.microsoft.com/office/powerpoint/2010/main" val="3000597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3F94E9E-4B30-4CEA-834E-1903206AF8C6}" type="datetimeFigureOut">
              <a:rPr lang="en-US" smtClean="0"/>
              <a:t>3/23/2025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C04D6C9-78A0-406C-A917-BEDA2B0DE611}" type="slidenum">
              <a:rPr lang="en-US" smtClean="0"/>
              <a:t>‹#›</a:t>
            </a:fld>
            <a:endParaRPr lang="en-US"/>
          </a:p>
        </p:txBody>
      </p:sp>
    </p:spTree>
    <p:extLst>
      <p:ext uri="{BB962C8B-B14F-4D97-AF65-F5344CB8AC3E}">
        <p14:creationId xmlns:p14="http://schemas.microsoft.com/office/powerpoint/2010/main" val="170051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9F419-EAD2-3F6E-9BBD-C66EA8FFFB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D66544-5F1D-557D-0410-4C6EE7D8DF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3E77C-DC22-A3DA-F185-A665B22565C9}"/>
              </a:ext>
            </a:extLst>
          </p:cNvPr>
          <p:cNvSpPr>
            <a:spLocks noGrp="1"/>
          </p:cNvSpPr>
          <p:nvPr>
            <p:ph type="dt" sz="half" idx="10"/>
          </p:nvPr>
        </p:nvSpPr>
        <p:spPr/>
        <p:txBody>
          <a:bodyPr/>
          <a:lstStyle/>
          <a:p>
            <a:fld id="{A3F94E9E-4B30-4CEA-834E-1903206AF8C6}" type="datetimeFigureOut">
              <a:rPr lang="en-US" smtClean="0"/>
              <a:t>3/23/2025</a:t>
            </a:fld>
            <a:endParaRPr lang="en-US"/>
          </a:p>
        </p:txBody>
      </p:sp>
      <p:sp>
        <p:nvSpPr>
          <p:cNvPr id="5" name="Footer Placeholder 4">
            <a:extLst>
              <a:ext uri="{FF2B5EF4-FFF2-40B4-BE49-F238E27FC236}">
                <a16:creationId xmlns:a16="http://schemas.microsoft.com/office/drawing/2014/main" id="{87209474-86FF-9812-1560-C7882A3FB0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D0596-BA24-2900-0569-75CA8A4879FA}"/>
              </a:ext>
            </a:extLst>
          </p:cNvPr>
          <p:cNvSpPr>
            <a:spLocks noGrp="1"/>
          </p:cNvSpPr>
          <p:nvPr>
            <p:ph type="sldNum" sz="quarter" idx="12"/>
          </p:nvPr>
        </p:nvSpPr>
        <p:spPr/>
        <p:txBody>
          <a:bodyPr/>
          <a:lstStyle/>
          <a:p>
            <a:fld id="{EC04D6C9-78A0-406C-A917-BEDA2B0DE611}" type="slidenum">
              <a:rPr lang="en-US" smtClean="0"/>
              <a:t>‹#›</a:t>
            </a:fld>
            <a:endParaRPr lang="en-US"/>
          </a:p>
        </p:txBody>
      </p:sp>
    </p:spTree>
    <p:extLst>
      <p:ext uri="{BB962C8B-B14F-4D97-AF65-F5344CB8AC3E}">
        <p14:creationId xmlns:p14="http://schemas.microsoft.com/office/powerpoint/2010/main" val="23786989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p:nvPicPr>
        <p:blipFill rotWithShape="1">
          <a:blip r:embed="rId6"/>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346387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5766-BC77-E168-9749-53EFB89680A2}"/>
              </a:ext>
            </a:extLst>
          </p:cNvPr>
          <p:cNvSpPr>
            <a:spLocks noGrp="1"/>
          </p:cNvSpPr>
          <p:nvPr>
            <p:ph type="ctrTitle"/>
          </p:nvPr>
        </p:nvSpPr>
        <p:spPr/>
        <p:txBody>
          <a:bodyPr/>
          <a:lstStyle/>
          <a:p>
            <a:r>
              <a:rPr lang="en-US" dirty="0"/>
              <a:t>DOCKER</a:t>
            </a:r>
          </a:p>
        </p:txBody>
      </p:sp>
      <p:sp>
        <p:nvSpPr>
          <p:cNvPr id="3" name="Subtitle 2">
            <a:extLst>
              <a:ext uri="{FF2B5EF4-FFF2-40B4-BE49-F238E27FC236}">
                <a16:creationId xmlns:a16="http://schemas.microsoft.com/office/drawing/2014/main" id="{F1BF8BFF-6598-4AAA-40F5-5853F888B30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37632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77A19-BC9A-0352-80A8-F1249D8042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8298EF-8AD4-75D0-580F-50782EA9F0A0}"/>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DDFFD564-CCE7-A7E7-143C-A8A84F8B93DB}"/>
              </a:ext>
            </a:extLst>
          </p:cNvPr>
          <p:cNvSpPr txBox="1"/>
          <p:nvPr/>
        </p:nvSpPr>
        <p:spPr>
          <a:xfrm>
            <a:off x="734517" y="773344"/>
            <a:ext cx="6265888" cy="408638"/>
          </a:xfrm>
          <a:prstGeom prst="rect">
            <a:avLst/>
          </a:prstGeom>
          <a:noFill/>
        </p:spPr>
        <p:txBody>
          <a:bodyPr wrap="square">
            <a:spAutoFit/>
          </a:bodyPr>
          <a:lstStyle/>
          <a:p>
            <a:pPr algn="l">
              <a:lnSpc>
                <a:spcPts val="2550"/>
              </a:lnSpc>
              <a:spcBef>
                <a:spcPts val="3750"/>
              </a:spcBef>
              <a:spcAft>
                <a:spcPts val="2250"/>
              </a:spcAft>
            </a:pPr>
            <a:r>
              <a:rPr lang="en-US" sz="2000" b="1" i="0" dirty="0">
                <a:solidFill>
                  <a:schemeClr val="accent1"/>
                </a:solidFill>
                <a:effectLst/>
                <a:latin typeface="Open Sans" panose="020B0606030504020204" pitchFamily="34" charset="0"/>
              </a:rPr>
              <a:t>Install Docker</a:t>
            </a:r>
            <a:endParaRPr lang="en-US" sz="2000" b="0" i="0" dirty="0">
              <a:solidFill>
                <a:schemeClr val="accent1"/>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DD511A09-6D9C-0267-6CFF-C7A6728B8482}"/>
              </a:ext>
            </a:extLst>
          </p:cNvPr>
          <p:cNvSpPr txBox="1"/>
          <p:nvPr/>
        </p:nvSpPr>
        <p:spPr>
          <a:xfrm>
            <a:off x="734517" y="1498460"/>
            <a:ext cx="10493116" cy="2229456"/>
          </a:xfrm>
          <a:prstGeom prst="rect">
            <a:avLst/>
          </a:prstGeom>
          <a:noFill/>
        </p:spPr>
        <p:txBody>
          <a:bodyPr wrap="square">
            <a:spAutoFit/>
          </a:bodyPr>
          <a:lstStyle/>
          <a:p>
            <a:pPr algn="l">
              <a:lnSpc>
                <a:spcPct val="200000"/>
              </a:lnSpc>
            </a:pPr>
            <a:r>
              <a:rPr lang="en-US" b="0" i="0" dirty="0">
                <a:solidFill>
                  <a:srgbClr val="4A4A4A"/>
                </a:solidFill>
                <a:effectLst/>
                <a:latin typeface="Open Sans" panose="020B0606030504020204" pitchFamily="34" charset="0"/>
              </a:rPr>
              <a:t>Following are the steps to install Docker on Ubuntu:</a:t>
            </a:r>
          </a:p>
          <a:p>
            <a:pPr algn="l">
              <a:lnSpc>
                <a:spcPct val="200000"/>
              </a:lnSpc>
              <a:buFont typeface="+mj-lt"/>
              <a:buAutoNum type="arabicPeriod"/>
            </a:pPr>
            <a:r>
              <a:rPr lang="en-US" b="0" i="0" dirty="0">
                <a:solidFill>
                  <a:srgbClr val="4A4A4A"/>
                </a:solidFill>
                <a:effectLst/>
                <a:latin typeface="Open Sans" panose="020B0606030504020204" pitchFamily="34" charset="0"/>
              </a:rPr>
              <a:t>Install required Packages</a:t>
            </a:r>
          </a:p>
          <a:p>
            <a:pPr algn="l">
              <a:lnSpc>
                <a:spcPct val="200000"/>
              </a:lnSpc>
              <a:buFont typeface="+mj-lt"/>
              <a:buAutoNum type="arabicPeriod"/>
            </a:pPr>
            <a:r>
              <a:rPr lang="en-US" b="0" i="0" dirty="0">
                <a:solidFill>
                  <a:srgbClr val="4A4A4A"/>
                </a:solidFill>
                <a:effectLst/>
                <a:latin typeface="Open Sans" panose="020B0606030504020204" pitchFamily="34" charset="0"/>
              </a:rPr>
              <a:t>Setup Docker repository</a:t>
            </a:r>
          </a:p>
          <a:p>
            <a:pPr algn="l">
              <a:lnSpc>
                <a:spcPct val="200000"/>
              </a:lnSpc>
              <a:buFont typeface="+mj-lt"/>
              <a:buAutoNum type="arabicPeriod"/>
            </a:pPr>
            <a:r>
              <a:rPr lang="en-US" b="0" i="0" dirty="0">
                <a:solidFill>
                  <a:srgbClr val="4A4A4A"/>
                </a:solidFill>
                <a:effectLst/>
                <a:latin typeface="Open Sans" panose="020B0606030504020204" pitchFamily="34" charset="0"/>
              </a:rPr>
              <a:t>Install Docker On Ubuntu</a:t>
            </a:r>
          </a:p>
        </p:txBody>
      </p:sp>
    </p:spTree>
    <p:extLst>
      <p:ext uri="{BB962C8B-B14F-4D97-AF65-F5344CB8AC3E}">
        <p14:creationId xmlns:p14="http://schemas.microsoft.com/office/powerpoint/2010/main" val="261496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8A4B3-AA2C-1017-B512-145CA6054A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7D6EAA-0D86-3E77-017A-4C9ABB08678C}"/>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59A5E82-01FD-D343-0A43-A0F8ACD89186}"/>
              </a:ext>
            </a:extLst>
          </p:cNvPr>
          <p:cNvSpPr txBox="1"/>
          <p:nvPr/>
        </p:nvSpPr>
        <p:spPr>
          <a:xfrm>
            <a:off x="419723" y="1261978"/>
            <a:ext cx="11017771" cy="856645"/>
          </a:xfrm>
          <a:prstGeom prst="rect">
            <a:avLst/>
          </a:prstGeom>
          <a:noFill/>
        </p:spPr>
        <p:txBody>
          <a:bodyPr wrap="square">
            <a:spAutoFit/>
          </a:bodyPr>
          <a:lstStyle/>
          <a:p>
            <a:pPr algn="l">
              <a:lnSpc>
                <a:spcPts val="1950"/>
              </a:lnSpc>
              <a:spcBef>
                <a:spcPts val="2400"/>
              </a:spcBef>
              <a:spcAft>
                <a:spcPts val="1800"/>
              </a:spcAft>
            </a:pPr>
            <a:r>
              <a:rPr lang="en-US" b="1" i="0" dirty="0">
                <a:solidFill>
                  <a:srgbClr val="4A4A4A"/>
                </a:solidFill>
                <a:effectLst/>
                <a:latin typeface="Open Sans" panose="020B0606030504020204" pitchFamily="34" charset="0"/>
              </a:rPr>
              <a:t>1. Install Required Packages:</a:t>
            </a:r>
            <a:endParaRPr lang="en-US" b="0" i="0" dirty="0">
              <a:solidFill>
                <a:srgbClr val="4A4A4A"/>
              </a:solidFill>
              <a:effectLst/>
              <a:latin typeface="Open Sans" panose="020B0606030504020204" pitchFamily="34" charset="0"/>
            </a:endParaRPr>
          </a:p>
          <a:p>
            <a:pPr algn="l"/>
            <a:r>
              <a:rPr lang="en-US" b="0" i="0" dirty="0">
                <a:solidFill>
                  <a:srgbClr val="4A4A4A"/>
                </a:solidFill>
                <a:effectLst/>
                <a:latin typeface="Open Sans" panose="020B0606030504020204" pitchFamily="34" charset="0"/>
              </a:rPr>
              <a:t>There are certain packages we require in our system for installing Docker. </a:t>
            </a:r>
          </a:p>
        </p:txBody>
      </p:sp>
      <p:pic>
        <p:nvPicPr>
          <p:cNvPr id="8" name="Picture 7">
            <a:extLst>
              <a:ext uri="{FF2B5EF4-FFF2-40B4-BE49-F238E27FC236}">
                <a16:creationId xmlns:a16="http://schemas.microsoft.com/office/drawing/2014/main" id="{992F7F76-1567-1376-8C6B-66DA91D9A84B}"/>
              </a:ext>
            </a:extLst>
          </p:cNvPr>
          <p:cNvPicPr>
            <a:picLocks noChangeAspect="1"/>
          </p:cNvPicPr>
          <p:nvPr/>
        </p:nvPicPr>
        <p:blipFill>
          <a:blip r:embed="rId2"/>
          <a:stretch>
            <a:fillRect/>
          </a:stretch>
        </p:blipFill>
        <p:spPr>
          <a:xfrm>
            <a:off x="791978" y="2289317"/>
            <a:ext cx="10273259" cy="3306705"/>
          </a:xfrm>
          <a:prstGeom prst="rect">
            <a:avLst/>
          </a:prstGeom>
        </p:spPr>
      </p:pic>
      <p:sp>
        <p:nvSpPr>
          <p:cNvPr id="10" name="TextBox 9">
            <a:extLst>
              <a:ext uri="{FF2B5EF4-FFF2-40B4-BE49-F238E27FC236}">
                <a16:creationId xmlns:a16="http://schemas.microsoft.com/office/drawing/2014/main" id="{A6D56DFB-0B4D-8740-2C05-12E5A67BFC62}"/>
              </a:ext>
            </a:extLst>
          </p:cNvPr>
          <p:cNvSpPr txBox="1"/>
          <p:nvPr/>
        </p:nvSpPr>
        <p:spPr>
          <a:xfrm>
            <a:off x="1126762" y="5272856"/>
            <a:ext cx="10715467" cy="369332"/>
          </a:xfrm>
          <a:prstGeom prst="rect">
            <a:avLst/>
          </a:prstGeom>
          <a:noFill/>
        </p:spPr>
        <p:txBody>
          <a:bodyPr wrap="square">
            <a:spAutoFit/>
          </a:bodyPr>
          <a:lstStyle/>
          <a:p>
            <a:r>
              <a:rPr lang="en-US" b="1" i="1" dirty="0" err="1">
                <a:highlight>
                  <a:srgbClr val="FFFF00"/>
                </a:highlight>
              </a:rPr>
              <a:t>sudo</a:t>
            </a:r>
            <a:r>
              <a:rPr lang="en-US" b="1" i="1" dirty="0">
                <a:highlight>
                  <a:srgbClr val="FFFF00"/>
                </a:highlight>
              </a:rPr>
              <a:t> apt-get install  curl  apt-transport-https ca-certificates software-properties-common</a:t>
            </a:r>
          </a:p>
        </p:txBody>
      </p:sp>
    </p:spTree>
    <p:extLst>
      <p:ext uri="{BB962C8B-B14F-4D97-AF65-F5344CB8AC3E}">
        <p14:creationId xmlns:p14="http://schemas.microsoft.com/office/powerpoint/2010/main" val="3659418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24C1-DDC2-DA6D-FBBF-E5A398275F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CBED36-4C6E-4411-9008-FFEAEF9E70C8}"/>
              </a:ext>
            </a:extLst>
          </p:cNvPr>
          <p:cNvSpPr>
            <a:spLocks noGrp="1"/>
          </p:cNvSpPr>
          <p:nvPr>
            <p:ph idx="1"/>
          </p:nvPr>
        </p:nvSpPr>
        <p:spPr/>
        <p:txBody>
          <a:bodyPr/>
          <a:lstStyle/>
          <a:p>
            <a:endParaRPr lang="en-US"/>
          </a:p>
        </p:txBody>
      </p:sp>
      <p:sp>
        <p:nvSpPr>
          <p:cNvPr id="6" name="Rectangle 3">
            <a:extLst>
              <a:ext uri="{FF2B5EF4-FFF2-40B4-BE49-F238E27FC236}">
                <a16:creationId xmlns:a16="http://schemas.microsoft.com/office/drawing/2014/main" id="{50BAF87C-A531-EAEE-4AB2-3A148CDC0E70}"/>
              </a:ext>
            </a:extLst>
          </p:cNvPr>
          <p:cNvSpPr>
            <a:spLocks noChangeArrowheads="1"/>
          </p:cNvSpPr>
          <p:nvPr/>
        </p:nvSpPr>
        <p:spPr bwMode="auto">
          <a:xfrm>
            <a:off x="299804" y="904788"/>
            <a:ext cx="11317573" cy="2155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21424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rgbClr val="4A4A4A"/>
                </a:solidFill>
                <a:latin typeface="Open Sans" panose="020B0606030504020204" pitchFamily="34" charset="0"/>
              </a:rPr>
              <a:t>2. Setup Docker Repository: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solidFill>
                <a:srgbClr val="4A4A4A"/>
              </a:solidFill>
              <a:latin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4A4A4A"/>
                </a:solidFill>
                <a:latin typeface="Open Sans" panose="020B0606030504020204" pitchFamily="34" charset="0"/>
              </a:rPr>
              <a:t>Now, import Dockers official GPG key to verify packages signature before installing them with apt-get.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4A4A4A"/>
              </a:solidFill>
              <a:latin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4A4A4A"/>
                </a:solidFill>
                <a:latin typeface="Open Sans" panose="020B0606030504020204" pitchFamily="34" charset="0"/>
              </a:rPr>
              <a:t> Run the below command on terminal:</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4A4A4A"/>
              </a:solidFill>
              <a:latin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i="1" dirty="0">
                <a:solidFill>
                  <a:srgbClr val="4A4A4A"/>
                </a:solidFill>
                <a:highlight>
                  <a:srgbClr val="FFFF00"/>
                </a:highlight>
                <a:latin typeface="Open Sans" panose="020B0606030504020204" pitchFamily="34" charset="0"/>
              </a:rPr>
              <a:t>curl -</a:t>
            </a:r>
            <a:r>
              <a:rPr lang="en-US" altLang="en-US" b="1" i="1" dirty="0" err="1">
                <a:solidFill>
                  <a:srgbClr val="4A4A4A"/>
                </a:solidFill>
                <a:highlight>
                  <a:srgbClr val="FFFF00"/>
                </a:highlight>
                <a:latin typeface="Open Sans" panose="020B0606030504020204" pitchFamily="34" charset="0"/>
              </a:rPr>
              <a:t>fsSL</a:t>
            </a:r>
            <a:r>
              <a:rPr lang="en-US" altLang="en-US" b="1" i="1" dirty="0">
                <a:solidFill>
                  <a:srgbClr val="4A4A4A"/>
                </a:solidFill>
                <a:highlight>
                  <a:srgbClr val="FFFF00"/>
                </a:highlight>
                <a:latin typeface="Open Sans" panose="020B0606030504020204" pitchFamily="34" charset="0"/>
              </a:rPr>
              <a:t> https://download.docker.com/linux/ubuntu/gpg | </a:t>
            </a:r>
            <a:r>
              <a:rPr lang="en-US" altLang="en-US" b="1" i="1" dirty="0" err="1">
                <a:solidFill>
                  <a:srgbClr val="4A4A4A"/>
                </a:solidFill>
                <a:highlight>
                  <a:srgbClr val="FFFF00"/>
                </a:highlight>
                <a:latin typeface="Open Sans" panose="020B0606030504020204" pitchFamily="34" charset="0"/>
              </a:rPr>
              <a:t>sudo</a:t>
            </a:r>
            <a:r>
              <a:rPr lang="en-US" altLang="en-US" b="1" i="1" dirty="0">
                <a:solidFill>
                  <a:srgbClr val="4A4A4A"/>
                </a:solidFill>
                <a:highlight>
                  <a:srgbClr val="FFFF00"/>
                </a:highlight>
                <a:latin typeface="Open Sans" panose="020B0606030504020204" pitchFamily="34" charset="0"/>
              </a:rPr>
              <a:t> apt-key add </a:t>
            </a:r>
          </a:p>
        </p:txBody>
      </p:sp>
      <p:pic>
        <p:nvPicPr>
          <p:cNvPr id="8" name="Picture 7">
            <a:extLst>
              <a:ext uri="{FF2B5EF4-FFF2-40B4-BE49-F238E27FC236}">
                <a16:creationId xmlns:a16="http://schemas.microsoft.com/office/drawing/2014/main" id="{1F6AA264-D035-8F6E-2A33-32653F077DBE}"/>
              </a:ext>
            </a:extLst>
          </p:cNvPr>
          <p:cNvPicPr>
            <a:picLocks noChangeAspect="1"/>
          </p:cNvPicPr>
          <p:nvPr/>
        </p:nvPicPr>
        <p:blipFill>
          <a:blip r:embed="rId2"/>
          <a:stretch>
            <a:fillRect/>
          </a:stretch>
        </p:blipFill>
        <p:spPr>
          <a:xfrm>
            <a:off x="524656" y="3552062"/>
            <a:ext cx="10867868" cy="3088581"/>
          </a:xfrm>
          <a:prstGeom prst="rect">
            <a:avLst/>
          </a:prstGeom>
        </p:spPr>
      </p:pic>
    </p:spTree>
    <p:extLst>
      <p:ext uri="{BB962C8B-B14F-4D97-AF65-F5344CB8AC3E}">
        <p14:creationId xmlns:p14="http://schemas.microsoft.com/office/powerpoint/2010/main" val="1948163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9493-4B77-24F6-EABB-412917DED8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FDE40B-79EC-4C79-A251-285F062452AC}"/>
              </a:ext>
            </a:extLst>
          </p:cNvPr>
          <p:cNvSpPr>
            <a:spLocks noGrp="1"/>
          </p:cNvSpPr>
          <p:nvPr>
            <p:ph idx="1"/>
          </p:nvPr>
        </p:nvSpPr>
        <p:spPr/>
        <p:txBody>
          <a:bodyPr/>
          <a:lstStyle/>
          <a:p>
            <a:endParaRPr lang="en-US"/>
          </a:p>
        </p:txBody>
      </p:sp>
      <p:sp>
        <p:nvSpPr>
          <p:cNvPr id="4" name="Rectangle 1">
            <a:extLst>
              <a:ext uri="{FF2B5EF4-FFF2-40B4-BE49-F238E27FC236}">
                <a16:creationId xmlns:a16="http://schemas.microsoft.com/office/drawing/2014/main" id="{D7D57B8C-D514-FC22-90FD-F21BD03CF187}"/>
              </a:ext>
            </a:extLst>
          </p:cNvPr>
          <p:cNvSpPr>
            <a:spLocks noChangeArrowheads="1"/>
          </p:cNvSpPr>
          <p:nvPr/>
        </p:nvSpPr>
        <p:spPr bwMode="auto">
          <a:xfrm>
            <a:off x="309796" y="1720840"/>
            <a:ext cx="1157240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4A4A4A"/>
                </a:solidFill>
                <a:latin typeface="Open Sans" panose="020B0606030504020204" pitchFamily="34" charset="0"/>
              </a:rPr>
              <a:t>Now, add the Docker repository on the Ubuntu system which contains Docker packages including its dependencies, for that execute the below command: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i="1" dirty="0">
              <a:solidFill>
                <a:srgbClr val="4A4A4A"/>
              </a:solidFill>
              <a:highlight>
                <a:srgbClr val="FFFF00"/>
              </a:highlight>
              <a:latin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i="1" dirty="0" err="1">
                <a:solidFill>
                  <a:srgbClr val="4A4A4A"/>
                </a:solidFill>
                <a:highlight>
                  <a:srgbClr val="FFFF00"/>
                </a:highlight>
                <a:latin typeface="Open Sans" panose="020B0606030504020204" pitchFamily="34" charset="0"/>
              </a:rPr>
              <a:t>sudo</a:t>
            </a:r>
            <a:r>
              <a:rPr lang="en-US" altLang="en-US" b="1" i="1" dirty="0">
                <a:solidFill>
                  <a:srgbClr val="4A4A4A"/>
                </a:solidFill>
                <a:highlight>
                  <a:srgbClr val="FFFF00"/>
                </a:highlight>
                <a:latin typeface="Open Sans" panose="020B0606030504020204" pitchFamily="34" charset="0"/>
              </a:rPr>
              <a:t> add-apt-repository "deb [arch=amd64] https://download.docker.com/linux/ubuntu $(</a:t>
            </a:r>
            <a:r>
              <a:rPr lang="en-US" altLang="en-US" b="1" i="1" dirty="0" err="1">
                <a:solidFill>
                  <a:srgbClr val="4A4A4A"/>
                </a:solidFill>
                <a:highlight>
                  <a:srgbClr val="FFFF00"/>
                </a:highlight>
                <a:latin typeface="Open Sans" panose="020B0606030504020204" pitchFamily="34" charset="0"/>
              </a:rPr>
              <a:t>lsb_release</a:t>
            </a:r>
            <a:r>
              <a:rPr lang="en-US" altLang="en-US" b="1" i="1" dirty="0">
                <a:solidFill>
                  <a:srgbClr val="4A4A4A"/>
                </a:solidFill>
                <a:highlight>
                  <a:srgbClr val="FFFF00"/>
                </a:highlight>
                <a:latin typeface="Open Sans" panose="020B0606030504020204" pitchFamily="34" charset="0"/>
              </a:rPr>
              <a:t> -cs) stable"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i="1" dirty="0">
              <a:solidFill>
                <a:srgbClr val="4A4A4A"/>
              </a:solidFill>
              <a:highlight>
                <a:srgbClr val="FFFF00"/>
              </a:highlight>
              <a:latin typeface="Open Sans" panose="020B0606030504020204" pitchFamily="34" charset="0"/>
            </a:endParaRPr>
          </a:p>
        </p:txBody>
      </p:sp>
      <p:pic>
        <p:nvPicPr>
          <p:cNvPr id="7" name="Picture 6">
            <a:extLst>
              <a:ext uri="{FF2B5EF4-FFF2-40B4-BE49-F238E27FC236}">
                <a16:creationId xmlns:a16="http://schemas.microsoft.com/office/drawing/2014/main" id="{1C474166-D6E9-AD39-2A48-87D0F3F68469}"/>
              </a:ext>
            </a:extLst>
          </p:cNvPr>
          <p:cNvPicPr>
            <a:picLocks noChangeAspect="1"/>
          </p:cNvPicPr>
          <p:nvPr/>
        </p:nvPicPr>
        <p:blipFill>
          <a:blip r:embed="rId2"/>
          <a:stretch>
            <a:fillRect/>
          </a:stretch>
        </p:blipFill>
        <p:spPr>
          <a:xfrm>
            <a:off x="404607" y="3903894"/>
            <a:ext cx="11382786" cy="739309"/>
          </a:xfrm>
          <a:prstGeom prst="rect">
            <a:avLst/>
          </a:prstGeom>
        </p:spPr>
      </p:pic>
    </p:spTree>
    <p:extLst>
      <p:ext uri="{BB962C8B-B14F-4D97-AF65-F5344CB8AC3E}">
        <p14:creationId xmlns:p14="http://schemas.microsoft.com/office/powerpoint/2010/main" val="196473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41425-AB49-E369-2F90-614451A51A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91F144-EF5C-4064-6EE1-29A87F465BE4}"/>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2E874062-FCBA-CDBA-A078-0ED10F77A471}"/>
              </a:ext>
            </a:extLst>
          </p:cNvPr>
          <p:cNvSpPr txBox="1"/>
          <p:nvPr/>
        </p:nvSpPr>
        <p:spPr>
          <a:xfrm>
            <a:off x="314793" y="829935"/>
            <a:ext cx="6265888" cy="348813"/>
          </a:xfrm>
          <a:prstGeom prst="rect">
            <a:avLst/>
          </a:prstGeom>
          <a:noFill/>
        </p:spPr>
        <p:txBody>
          <a:bodyPr wrap="square">
            <a:spAutoFit/>
          </a:bodyPr>
          <a:lstStyle/>
          <a:p>
            <a:pPr algn="l">
              <a:lnSpc>
                <a:spcPts val="1950"/>
              </a:lnSpc>
              <a:spcBef>
                <a:spcPts val="2400"/>
              </a:spcBef>
              <a:spcAft>
                <a:spcPts val="1800"/>
              </a:spcAft>
            </a:pPr>
            <a:r>
              <a:rPr lang="sv-SE" b="1" i="0" dirty="0">
                <a:solidFill>
                  <a:srgbClr val="4A4A4A"/>
                </a:solidFill>
                <a:effectLst/>
                <a:latin typeface="Open Sans" panose="020B0606030504020204" pitchFamily="34" charset="0"/>
              </a:rPr>
              <a:t>3. Install Docker On Ubuntu:</a:t>
            </a:r>
            <a:endParaRPr lang="sv-SE" b="0" i="0" dirty="0">
              <a:solidFill>
                <a:srgbClr val="4A4A4A"/>
              </a:solidFill>
              <a:effectLst/>
              <a:latin typeface="Open Sans" panose="020B0606030504020204" pitchFamily="34" charset="0"/>
            </a:endParaRPr>
          </a:p>
        </p:txBody>
      </p:sp>
      <p:sp>
        <p:nvSpPr>
          <p:cNvPr id="6" name="Rectangle 1">
            <a:extLst>
              <a:ext uri="{FF2B5EF4-FFF2-40B4-BE49-F238E27FC236}">
                <a16:creationId xmlns:a16="http://schemas.microsoft.com/office/drawing/2014/main" id="{AEF218D4-DE38-9BB3-7EC7-095173228EA8}"/>
              </a:ext>
            </a:extLst>
          </p:cNvPr>
          <p:cNvSpPr>
            <a:spLocks noChangeArrowheads="1"/>
          </p:cNvSpPr>
          <p:nvPr/>
        </p:nvSpPr>
        <p:spPr bwMode="auto">
          <a:xfrm>
            <a:off x="214859" y="1510300"/>
            <a:ext cx="11657351"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4A4A4A"/>
                </a:solidFill>
                <a:latin typeface="Open Sans" panose="020B0606030504020204" pitchFamily="34" charset="0"/>
              </a:rPr>
              <a:t>Now you need to upgrade apt index and install Docker community edition, for that execute the below commands: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4A4A4A"/>
              </a:solidFill>
              <a:latin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i="1" dirty="0" err="1">
                <a:solidFill>
                  <a:srgbClr val="4A4A4A"/>
                </a:solidFill>
                <a:highlight>
                  <a:srgbClr val="FFFF00"/>
                </a:highlight>
                <a:latin typeface="Open Sans" panose="020B0606030504020204" pitchFamily="34" charset="0"/>
              </a:rPr>
              <a:t>sudo</a:t>
            </a:r>
            <a:r>
              <a:rPr lang="en-US" altLang="en-US" b="1" i="1" dirty="0">
                <a:solidFill>
                  <a:srgbClr val="4A4A4A"/>
                </a:solidFill>
                <a:highlight>
                  <a:srgbClr val="FFFF00"/>
                </a:highlight>
                <a:latin typeface="Open Sans" panose="020B0606030504020204" pitchFamily="34" charset="0"/>
              </a:rPr>
              <a:t> apt-get update </a:t>
            </a:r>
            <a:r>
              <a:rPr lang="en-US" altLang="en-US" b="1" i="1" dirty="0" err="1">
                <a:solidFill>
                  <a:srgbClr val="4A4A4A"/>
                </a:solidFill>
                <a:highlight>
                  <a:srgbClr val="FFFF00"/>
                </a:highlight>
                <a:latin typeface="Open Sans" panose="020B0606030504020204" pitchFamily="34" charset="0"/>
              </a:rPr>
              <a:t>sudo</a:t>
            </a:r>
            <a:r>
              <a:rPr lang="en-US" altLang="en-US" b="1" i="1" dirty="0">
                <a:solidFill>
                  <a:srgbClr val="4A4A4A"/>
                </a:solidFill>
                <a:highlight>
                  <a:srgbClr val="FFFF00"/>
                </a:highlight>
                <a:latin typeface="Open Sans" panose="020B0606030504020204" pitchFamily="34" charset="0"/>
              </a:rPr>
              <a:t> apt-get install docker-</a:t>
            </a:r>
            <a:r>
              <a:rPr lang="en-US" altLang="en-US" b="1" i="1" dirty="0" err="1">
                <a:solidFill>
                  <a:srgbClr val="4A4A4A"/>
                </a:solidFill>
                <a:highlight>
                  <a:srgbClr val="FFFF00"/>
                </a:highlight>
                <a:latin typeface="Open Sans" panose="020B0606030504020204" pitchFamily="34" charset="0"/>
              </a:rPr>
              <a:t>ce</a:t>
            </a:r>
            <a:r>
              <a:rPr lang="en-US" altLang="en-US" b="1" i="1" dirty="0">
                <a:solidFill>
                  <a:srgbClr val="4A4A4A"/>
                </a:solidFill>
                <a:highlight>
                  <a:srgbClr val="FFFF00"/>
                </a:highlight>
                <a:latin typeface="Open Sans" panose="020B0606030504020204" pitchFamily="34" charset="0"/>
              </a:rPr>
              <a:t> </a:t>
            </a:r>
          </a:p>
        </p:txBody>
      </p:sp>
      <p:pic>
        <p:nvPicPr>
          <p:cNvPr id="8" name="Picture 7">
            <a:extLst>
              <a:ext uri="{FF2B5EF4-FFF2-40B4-BE49-F238E27FC236}">
                <a16:creationId xmlns:a16="http://schemas.microsoft.com/office/drawing/2014/main" id="{020D6310-BE84-E8AD-FEAB-CC63D8FC71EF}"/>
              </a:ext>
            </a:extLst>
          </p:cNvPr>
          <p:cNvPicPr>
            <a:picLocks noChangeAspect="1"/>
          </p:cNvPicPr>
          <p:nvPr/>
        </p:nvPicPr>
        <p:blipFill>
          <a:blip r:embed="rId2"/>
          <a:stretch>
            <a:fillRect/>
          </a:stretch>
        </p:blipFill>
        <p:spPr>
          <a:xfrm>
            <a:off x="617795" y="2868212"/>
            <a:ext cx="10116962" cy="1991003"/>
          </a:xfrm>
          <a:prstGeom prst="rect">
            <a:avLst/>
          </a:prstGeom>
        </p:spPr>
      </p:pic>
    </p:spTree>
    <p:extLst>
      <p:ext uri="{BB962C8B-B14F-4D97-AF65-F5344CB8AC3E}">
        <p14:creationId xmlns:p14="http://schemas.microsoft.com/office/powerpoint/2010/main" val="1966407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FF7D-CAC1-B1E8-52F4-5994EDF0B3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595C9E-C553-46EF-6E0B-ED602D588F1D}"/>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F9A76259-E65C-AF1F-3938-C217E2EDE122}"/>
              </a:ext>
            </a:extLst>
          </p:cNvPr>
          <p:cNvPicPr>
            <a:picLocks noChangeAspect="1"/>
          </p:cNvPicPr>
          <p:nvPr/>
        </p:nvPicPr>
        <p:blipFill>
          <a:blip r:embed="rId2"/>
          <a:stretch>
            <a:fillRect/>
          </a:stretch>
        </p:blipFill>
        <p:spPr>
          <a:xfrm>
            <a:off x="594544" y="1533537"/>
            <a:ext cx="11002911" cy="3191320"/>
          </a:xfrm>
          <a:prstGeom prst="rect">
            <a:avLst/>
          </a:prstGeom>
        </p:spPr>
      </p:pic>
    </p:spTree>
    <p:extLst>
      <p:ext uri="{BB962C8B-B14F-4D97-AF65-F5344CB8AC3E}">
        <p14:creationId xmlns:p14="http://schemas.microsoft.com/office/powerpoint/2010/main" val="332664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4ED5-3113-EB6A-D203-08BF9582FB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2B6BA4-F6BC-9A96-ED25-2B5FD9AB7406}"/>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60F1B42C-426F-53E7-1456-7D0B1CC8D16C}"/>
              </a:ext>
            </a:extLst>
          </p:cNvPr>
          <p:cNvSpPr txBox="1"/>
          <p:nvPr/>
        </p:nvSpPr>
        <p:spPr>
          <a:xfrm>
            <a:off x="284812" y="1061399"/>
            <a:ext cx="11572408" cy="3583032"/>
          </a:xfrm>
          <a:prstGeom prst="rect">
            <a:avLst/>
          </a:prstGeom>
          <a:noFill/>
        </p:spPr>
        <p:txBody>
          <a:bodyPr wrap="square">
            <a:spAutoFit/>
          </a:bodyPr>
          <a:lstStyle/>
          <a:p>
            <a:pPr algn="l">
              <a:lnSpc>
                <a:spcPts val="2550"/>
              </a:lnSpc>
              <a:spcBef>
                <a:spcPts val="3750"/>
              </a:spcBef>
              <a:spcAft>
                <a:spcPts val="2250"/>
              </a:spcAft>
            </a:pPr>
            <a:r>
              <a:rPr lang="en-US" sz="2400" b="1" dirty="0">
                <a:solidFill>
                  <a:schemeClr val="accent1"/>
                </a:solidFill>
                <a:latin typeface="Open Sans" panose="020B0606030504020204" pitchFamily="34" charset="0"/>
              </a:rPr>
              <a:t>Docker Compose</a:t>
            </a:r>
          </a:p>
          <a:p>
            <a:pPr algn="just"/>
            <a:r>
              <a:rPr lang="en-US" b="1" i="0" dirty="0">
                <a:solidFill>
                  <a:srgbClr val="4A4A4A"/>
                </a:solidFill>
                <a:effectLst/>
                <a:highlight>
                  <a:srgbClr val="FFFF00"/>
                </a:highlight>
                <a:latin typeface="Open Sans" panose="020B0606030504020204" pitchFamily="34" charset="0"/>
              </a:rPr>
              <a:t>Docker Compose is basically used to run multiple Docker Containers as a single server. </a:t>
            </a:r>
          </a:p>
          <a:p>
            <a:pPr algn="just"/>
            <a:endParaRPr lang="en-US" dirty="0">
              <a:solidFill>
                <a:srgbClr val="4A4A4A"/>
              </a:solidFill>
              <a:latin typeface="Open Sans" panose="020B0606030504020204" pitchFamily="34" charset="0"/>
            </a:endParaRPr>
          </a:p>
          <a:p>
            <a:pPr algn="just"/>
            <a:r>
              <a:rPr lang="en-US" sz="2400" b="1" dirty="0">
                <a:solidFill>
                  <a:schemeClr val="accent1"/>
                </a:solidFill>
                <a:latin typeface="Open Sans" panose="020B0606030504020204" pitchFamily="34" charset="0"/>
              </a:rPr>
              <a:t>Example:</a:t>
            </a:r>
          </a:p>
          <a:p>
            <a:pPr algn="just"/>
            <a:endParaRPr lang="en-US" b="0" i="0" dirty="0">
              <a:solidFill>
                <a:srgbClr val="4A4A4A"/>
              </a:solidFill>
              <a:effectLst/>
              <a:latin typeface="Open Sans" panose="020B0606030504020204" pitchFamily="34" charset="0"/>
            </a:endParaRPr>
          </a:p>
          <a:p>
            <a:pPr marL="285750" indent="-285750" algn="just">
              <a:buFont typeface="Arial" panose="020B0604020202020204" pitchFamily="34" charset="0"/>
              <a:buChar char="•"/>
            </a:pPr>
            <a:r>
              <a:rPr lang="en-US" b="0" i="0" dirty="0">
                <a:effectLst/>
                <a:latin typeface="Open Sans" panose="020B0606030504020204" pitchFamily="34" charset="0"/>
              </a:rPr>
              <a:t>Suppose if there is an application which requires WordPress, Maria DB and PHP </a:t>
            </a:r>
            <a:r>
              <a:rPr lang="en-US" b="0" i="0" dirty="0" err="1">
                <a:effectLst/>
                <a:latin typeface="Open Sans" panose="020B0606030504020204" pitchFamily="34" charset="0"/>
              </a:rPr>
              <a:t>MyAdmin</a:t>
            </a:r>
            <a:r>
              <a:rPr lang="en-US" b="0" i="0" dirty="0">
                <a:effectLst/>
                <a:latin typeface="Open Sans" panose="020B0606030504020204" pitchFamily="34" charset="0"/>
              </a:rPr>
              <a:t>. </a:t>
            </a:r>
          </a:p>
          <a:p>
            <a:pPr marL="285750" indent="-285750" algn="just">
              <a:buFont typeface="Arial" panose="020B0604020202020204" pitchFamily="34" charset="0"/>
              <a:buChar char="•"/>
            </a:pPr>
            <a:endParaRPr lang="en-US" dirty="0">
              <a:latin typeface="Open Sans" panose="020B0606030504020204" pitchFamily="34" charset="0"/>
            </a:endParaRPr>
          </a:p>
          <a:p>
            <a:pPr marL="285750" indent="-285750" algn="just">
              <a:buFont typeface="Arial" panose="020B0604020202020204" pitchFamily="34" charset="0"/>
              <a:buChar char="•"/>
            </a:pPr>
            <a:r>
              <a:rPr lang="en-US" b="0" i="0" dirty="0">
                <a:effectLst/>
                <a:latin typeface="Open Sans" panose="020B0606030504020204" pitchFamily="34" charset="0"/>
              </a:rPr>
              <a:t>We can create one file which would start both the containers as a service without the need to start each one separately. </a:t>
            </a:r>
          </a:p>
          <a:p>
            <a:pPr marL="285750" indent="-285750" algn="just">
              <a:buFont typeface="Arial" panose="020B0604020202020204" pitchFamily="34" charset="0"/>
              <a:buChar char="•"/>
            </a:pPr>
            <a:endParaRPr lang="en-US" dirty="0">
              <a:latin typeface="Open Sans" panose="020B0606030504020204" pitchFamily="34" charset="0"/>
            </a:endParaRPr>
          </a:p>
          <a:p>
            <a:pPr marL="285750" indent="-285750" algn="just">
              <a:buFont typeface="Arial" panose="020B0604020202020204" pitchFamily="34" charset="0"/>
              <a:buChar char="•"/>
            </a:pPr>
            <a:r>
              <a:rPr lang="en-US" b="0" i="0" dirty="0">
                <a:effectLst/>
                <a:latin typeface="Open Sans" panose="020B0606030504020204" pitchFamily="34" charset="0"/>
              </a:rPr>
              <a:t>It is useful especially if we have a microservice architecture.</a:t>
            </a:r>
          </a:p>
        </p:txBody>
      </p:sp>
    </p:spTree>
    <p:extLst>
      <p:ext uri="{BB962C8B-B14F-4D97-AF65-F5344CB8AC3E}">
        <p14:creationId xmlns:p14="http://schemas.microsoft.com/office/powerpoint/2010/main" val="2625971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862D-2D63-73BB-DD05-332E802D67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DB82DA-754B-1189-72BD-92D5DB12D7F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86BEBF3-466D-5FBF-69B2-534E3758068D}"/>
              </a:ext>
            </a:extLst>
          </p:cNvPr>
          <p:cNvPicPr>
            <a:picLocks noChangeAspect="1"/>
          </p:cNvPicPr>
          <p:nvPr/>
        </p:nvPicPr>
        <p:blipFill>
          <a:blip r:embed="rId2"/>
          <a:stretch>
            <a:fillRect/>
          </a:stretch>
        </p:blipFill>
        <p:spPr>
          <a:xfrm>
            <a:off x="674557" y="150827"/>
            <a:ext cx="9575044" cy="4057740"/>
          </a:xfrm>
          <a:prstGeom prst="rect">
            <a:avLst/>
          </a:prstGeom>
        </p:spPr>
      </p:pic>
      <p:pic>
        <p:nvPicPr>
          <p:cNvPr id="1026" name="Picture 2">
            <a:extLst>
              <a:ext uri="{FF2B5EF4-FFF2-40B4-BE49-F238E27FC236}">
                <a16:creationId xmlns:a16="http://schemas.microsoft.com/office/drawing/2014/main" id="{692EDE4F-B0B7-1618-80B6-495CE898D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425" y="4079565"/>
            <a:ext cx="5576341" cy="2685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69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6C1B-59BC-BD32-2313-0FE0174CBC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C9EA13-3837-2D05-8A41-AE6A73D85FC9}"/>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03A48DB-3F6F-1904-FF36-A3E71E9A4737}"/>
              </a:ext>
            </a:extLst>
          </p:cNvPr>
          <p:cNvSpPr txBox="1"/>
          <p:nvPr/>
        </p:nvSpPr>
        <p:spPr>
          <a:xfrm>
            <a:off x="299803" y="593462"/>
            <a:ext cx="6265888" cy="402033"/>
          </a:xfrm>
          <a:prstGeom prst="rect">
            <a:avLst/>
          </a:prstGeom>
          <a:noFill/>
        </p:spPr>
        <p:txBody>
          <a:bodyPr wrap="square">
            <a:spAutoFit/>
          </a:bodyPr>
          <a:lstStyle/>
          <a:p>
            <a:pPr algn="l">
              <a:lnSpc>
                <a:spcPts val="2550"/>
              </a:lnSpc>
              <a:spcBef>
                <a:spcPts val="3750"/>
              </a:spcBef>
              <a:spcAft>
                <a:spcPts val="2250"/>
              </a:spcAft>
            </a:pPr>
            <a:r>
              <a:rPr lang="en-US" b="1" i="0" dirty="0">
                <a:solidFill>
                  <a:schemeClr val="accent1"/>
                </a:solidFill>
                <a:effectLst/>
                <a:latin typeface="Open Sans" panose="020B0606030504020204" pitchFamily="34" charset="0"/>
              </a:rPr>
              <a:t>Indiana University Case-Study</a:t>
            </a:r>
            <a:endParaRPr lang="en-US" b="0" i="0" dirty="0">
              <a:solidFill>
                <a:schemeClr val="accent1"/>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9B583B22-4549-7CAC-B95E-39095FC0082F}"/>
              </a:ext>
            </a:extLst>
          </p:cNvPr>
          <p:cNvSpPr txBox="1"/>
          <p:nvPr/>
        </p:nvSpPr>
        <p:spPr>
          <a:xfrm>
            <a:off x="299803" y="1220835"/>
            <a:ext cx="11512446" cy="1718419"/>
          </a:xfrm>
          <a:prstGeom prst="rect">
            <a:avLst/>
          </a:prstGeom>
          <a:noFill/>
        </p:spPr>
        <p:txBody>
          <a:bodyPr wrap="square">
            <a:spAutoFit/>
          </a:bodyPr>
          <a:lstStyle/>
          <a:p>
            <a:pPr algn="just"/>
            <a:r>
              <a:rPr lang="en-US" b="1" i="0" dirty="0">
                <a:solidFill>
                  <a:schemeClr val="accent1"/>
                </a:solidFill>
                <a:effectLst/>
                <a:latin typeface="Open Sans" panose="020B0606030504020204" pitchFamily="34" charset="0"/>
              </a:rPr>
              <a:t>Indiana University is a multi-campus public university system in the state of Indiana, United States.</a:t>
            </a:r>
          </a:p>
          <a:p>
            <a:pPr algn="l">
              <a:lnSpc>
                <a:spcPts val="1950"/>
              </a:lnSpc>
              <a:spcBef>
                <a:spcPts val="2400"/>
              </a:spcBef>
              <a:spcAft>
                <a:spcPts val="1800"/>
              </a:spcAft>
            </a:pPr>
            <a:r>
              <a:rPr lang="en-US" b="1" i="0" dirty="0">
                <a:solidFill>
                  <a:srgbClr val="4A4A4A"/>
                </a:solidFill>
                <a:effectLst/>
                <a:latin typeface="Open Sans" panose="020B0606030504020204" pitchFamily="34" charset="0"/>
              </a:rPr>
              <a:t>Problem Statement</a:t>
            </a:r>
            <a:endParaRPr lang="en-US" b="0" i="0" dirty="0">
              <a:solidFill>
                <a:srgbClr val="4A4A4A"/>
              </a:solidFill>
              <a:effectLst/>
              <a:latin typeface="Open Sans" panose="020B0606030504020204" pitchFamily="34" charset="0"/>
            </a:endParaRPr>
          </a:p>
          <a:p>
            <a:pPr algn="just"/>
            <a:r>
              <a:rPr lang="en-US" b="0" i="0" dirty="0">
                <a:solidFill>
                  <a:srgbClr val="4A4A4A"/>
                </a:solidFill>
                <a:effectLst/>
                <a:latin typeface="Open Sans" panose="020B0606030504020204" pitchFamily="34" charset="0"/>
              </a:rPr>
              <a:t>They were using custom scripts to deploy the applications in the VM.</a:t>
            </a:r>
          </a:p>
        </p:txBody>
      </p:sp>
      <p:pic>
        <p:nvPicPr>
          <p:cNvPr id="8" name="Picture 7">
            <a:extLst>
              <a:ext uri="{FF2B5EF4-FFF2-40B4-BE49-F238E27FC236}">
                <a16:creationId xmlns:a16="http://schemas.microsoft.com/office/drawing/2014/main" id="{4A89E9E6-8B48-DF6A-DD10-A164CA8710C0}"/>
              </a:ext>
            </a:extLst>
          </p:cNvPr>
          <p:cNvPicPr>
            <a:picLocks noChangeAspect="1"/>
          </p:cNvPicPr>
          <p:nvPr/>
        </p:nvPicPr>
        <p:blipFill>
          <a:blip r:embed="rId2"/>
          <a:stretch>
            <a:fillRect/>
          </a:stretch>
        </p:blipFill>
        <p:spPr>
          <a:xfrm>
            <a:off x="7695263" y="2391710"/>
            <a:ext cx="3382468" cy="2074580"/>
          </a:xfrm>
          <a:prstGeom prst="rect">
            <a:avLst/>
          </a:prstGeom>
        </p:spPr>
      </p:pic>
      <p:sp>
        <p:nvSpPr>
          <p:cNvPr id="10" name="TextBox 9">
            <a:extLst>
              <a:ext uri="{FF2B5EF4-FFF2-40B4-BE49-F238E27FC236}">
                <a16:creationId xmlns:a16="http://schemas.microsoft.com/office/drawing/2014/main" id="{92061124-AA50-A468-268C-1B83101EA958}"/>
              </a:ext>
            </a:extLst>
          </p:cNvPr>
          <p:cNvSpPr txBox="1"/>
          <p:nvPr/>
        </p:nvSpPr>
        <p:spPr>
          <a:xfrm>
            <a:off x="299803" y="4787210"/>
            <a:ext cx="11647358" cy="171110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4A4A4A"/>
                </a:solidFill>
                <a:effectLst/>
                <a:latin typeface="Open Sans" panose="020B0606030504020204" pitchFamily="34" charset="0"/>
              </a:rPr>
              <a:t>Their environment was optimized for their legacy Java-based applications.</a:t>
            </a:r>
          </a:p>
          <a:p>
            <a:pPr marL="285750" indent="-285750" algn="just">
              <a:lnSpc>
                <a:spcPct val="150000"/>
              </a:lnSpc>
              <a:buFont typeface="Arial" panose="020B0604020202020204" pitchFamily="34" charset="0"/>
              <a:buChar char="•"/>
            </a:pPr>
            <a:r>
              <a:rPr lang="en-US" b="0" i="0" dirty="0">
                <a:solidFill>
                  <a:srgbClr val="4A4A4A"/>
                </a:solidFill>
                <a:effectLst/>
                <a:latin typeface="Open Sans" panose="020B0606030504020204" pitchFamily="34" charset="0"/>
              </a:rPr>
              <a:t> Their growing environment involves new products that aren’t solely java based. </a:t>
            </a:r>
          </a:p>
          <a:p>
            <a:pPr marL="285750" indent="-285750" algn="just">
              <a:lnSpc>
                <a:spcPct val="150000"/>
              </a:lnSpc>
              <a:buFont typeface="Arial" panose="020B0604020202020204" pitchFamily="34" charset="0"/>
              <a:buChar char="•"/>
            </a:pPr>
            <a:r>
              <a:rPr lang="en-US" b="0" i="0" dirty="0">
                <a:solidFill>
                  <a:srgbClr val="4A4A4A"/>
                </a:solidFill>
                <a:effectLst/>
                <a:latin typeface="Open Sans" panose="020B0606030504020204" pitchFamily="34" charset="0"/>
              </a:rPr>
              <a:t>In order to give their students the best experience possible, the University needed to begin modernizing the applications.</a:t>
            </a:r>
            <a:endParaRPr lang="en-US" dirty="0"/>
          </a:p>
        </p:txBody>
      </p:sp>
    </p:spTree>
    <p:extLst>
      <p:ext uri="{BB962C8B-B14F-4D97-AF65-F5344CB8AC3E}">
        <p14:creationId xmlns:p14="http://schemas.microsoft.com/office/powerpoint/2010/main" val="3412351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05A6-439E-55FD-8426-01F97DBE0E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4FBF36-2EEA-EBE6-BEDB-35C8F021ED7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E7F81FC-2C69-70A7-801B-B4046DC368BF}"/>
              </a:ext>
            </a:extLst>
          </p:cNvPr>
          <p:cNvPicPr>
            <a:picLocks noChangeAspect="1"/>
          </p:cNvPicPr>
          <p:nvPr/>
        </p:nvPicPr>
        <p:blipFill>
          <a:blip r:embed="rId2"/>
          <a:stretch>
            <a:fillRect/>
          </a:stretch>
        </p:blipFill>
        <p:spPr>
          <a:xfrm>
            <a:off x="1831297" y="1841871"/>
            <a:ext cx="8529403" cy="3780077"/>
          </a:xfrm>
          <a:prstGeom prst="rect">
            <a:avLst/>
          </a:prstGeom>
        </p:spPr>
      </p:pic>
      <p:sp>
        <p:nvSpPr>
          <p:cNvPr id="6" name="TextBox 5">
            <a:extLst>
              <a:ext uri="{FF2B5EF4-FFF2-40B4-BE49-F238E27FC236}">
                <a16:creationId xmlns:a16="http://schemas.microsoft.com/office/drawing/2014/main" id="{412D2720-4592-349A-D08E-9A458B370A34}"/>
              </a:ext>
            </a:extLst>
          </p:cNvPr>
          <p:cNvSpPr txBox="1"/>
          <p:nvPr/>
        </p:nvSpPr>
        <p:spPr>
          <a:xfrm>
            <a:off x="294805" y="610923"/>
            <a:ext cx="11602388" cy="646331"/>
          </a:xfrm>
          <a:prstGeom prst="rect">
            <a:avLst/>
          </a:prstGeom>
          <a:noFill/>
        </p:spPr>
        <p:txBody>
          <a:bodyPr wrap="square">
            <a:spAutoFit/>
          </a:bodyPr>
          <a:lstStyle/>
          <a:p>
            <a:r>
              <a:rPr lang="en-US" b="1" i="0" dirty="0">
                <a:effectLst/>
                <a:latin typeface="Open Sans" panose="020B0606030504020204" pitchFamily="34" charset="0"/>
              </a:rPr>
              <a:t>The University wanted to improve the way they architect applications, by moving to a microservices based architecture for their applications.</a:t>
            </a:r>
            <a:endParaRPr lang="en-US" b="1" dirty="0"/>
          </a:p>
        </p:txBody>
      </p:sp>
      <p:sp>
        <p:nvSpPr>
          <p:cNvPr id="8" name="TextBox 7">
            <a:extLst>
              <a:ext uri="{FF2B5EF4-FFF2-40B4-BE49-F238E27FC236}">
                <a16:creationId xmlns:a16="http://schemas.microsoft.com/office/drawing/2014/main" id="{1E57A309-B7EA-72A6-6604-C874A27EAD32}"/>
              </a:ext>
            </a:extLst>
          </p:cNvPr>
          <p:cNvSpPr txBox="1"/>
          <p:nvPr/>
        </p:nvSpPr>
        <p:spPr>
          <a:xfrm>
            <a:off x="554634" y="5923911"/>
            <a:ext cx="9473785" cy="369332"/>
          </a:xfrm>
          <a:prstGeom prst="rect">
            <a:avLst/>
          </a:prstGeom>
          <a:noFill/>
        </p:spPr>
        <p:txBody>
          <a:bodyPr wrap="square">
            <a:spAutoFit/>
          </a:bodyPr>
          <a:lstStyle/>
          <a:p>
            <a:r>
              <a:rPr lang="en-US" b="1" i="0" dirty="0">
                <a:effectLst/>
                <a:latin typeface="Open Sans" panose="020B0606030504020204" pitchFamily="34" charset="0"/>
              </a:rPr>
              <a:t>Security was needed for student’s data such as SSNs and student health data</a:t>
            </a:r>
            <a:endParaRPr lang="en-US" b="1" dirty="0"/>
          </a:p>
        </p:txBody>
      </p:sp>
    </p:spTree>
    <p:extLst>
      <p:ext uri="{BB962C8B-B14F-4D97-AF65-F5344CB8AC3E}">
        <p14:creationId xmlns:p14="http://schemas.microsoft.com/office/powerpoint/2010/main" val="2336576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CB60-61B4-BDAE-39F0-1DD3A56FB9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1357C8-46A3-1BEA-F6CF-8329FECE3A58}"/>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E3BE99E-1798-6EEF-2D95-7CF274C0B332}"/>
              </a:ext>
            </a:extLst>
          </p:cNvPr>
          <p:cNvSpPr txBox="1"/>
          <p:nvPr/>
        </p:nvSpPr>
        <p:spPr>
          <a:xfrm>
            <a:off x="299802" y="632391"/>
            <a:ext cx="10508106" cy="856645"/>
          </a:xfrm>
          <a:prstGeom prst="rect">
            <a:avLst/>
          </a:prstGeom>
          <a:noFill/>
        </p:spPr>
        <p:txBody>
          <a:bodyPr wrap="square">
            <a:spAutoFit/>
          </a:bodyPr>
          <a:lstStyle/>
          <a:p>
            <a:pPr algn="l">
              <a:lnSpc>
                <a:spcPts val="1950"/>
              </a:lnSpc>
              <a:spcBef>
                <a:spcPts val="2400"/>
              </a:spcBef>
              <a:spcAft>
                <a:spcPts val="1800"/>
              </a:spcAft>
            </a:pPr>
            <a:r>
              <a:rPr lang="en-US" b="1" i="0" dirty="0">
                <a:solidFill>
                  <a:schemeClr val="accent1"/>
                </a:solidFill>
                <a:effectLst/>
                <a:latin typeface="Open Sans" panose="020B0606030504020204" pitchFamily="34" charset="0"/>
              </a:rPr>
              <a:t>Solution:</a:t>
            </a:r>
            <a:endParaRPr lang="en-US" b="0" i="0" dirty="0">
              <a:solidFill>
                <a:schemeClr val="accent1"/>
              </a:solidFill>
              <a:effectLst/>
              <a:latin typeface="Open Sans" panose="020B0606030504020204" pitchFamily="34" charset="0"/>
            </a:endParaRPr>
          </a:p>
          <a:p>
            <a:pPr algn="just"/>
            <a:r>
              <a:rPr lang="en-US" b="0" i="0" dirty="0">
                <a:effectLst/>
                <a:latin typeface="Open Sans" panose="020B0606030504020204" pitchFamily="34" charset="0"/>
              </a:rPr>
              <a:t>All the problems were addressed by Docker Data Center (DDC)</a:t>
            </a:r>
          </a:p>
        </p:txBody>
      </p:sp>
      <p:pic>
        <p:nvPicPr>
          <p:cNvPr id="6" name="Picture 5">
            <a:extLst>
              <a:ext uri="{FF2B5EF4-FFF2-40B4-BE49-F238E27FC236}">
                <a16:creationId xmlns:a16="http://schemas.microsoft.com/office/drawing/2014/main" id="{6762ADD0-CA8F-BBF4-1E94-A4197E60B4C1}"/>
              </a:ext>
            </a:extLst>
          </p:cNvPr>
          <p:cNvPicPr>
            <a:picLocks noChangeAspect="1"/>
          </p:cNvPicPr>
          <p:nvPr/>
        </p:nvPicPr>
        <p:blipFill>
          <a:blip r:embed="rId2"/>
          <a:stretch>
            <a:fillRect/>
          </a:stretch>
        </p:blipFill>
        <p:spPr>
          <a:xfrm>
            <a:off x="1394085" y="2062563"/>
            <a:ext cx="9095282" cy="3325073"/>
          </a:xfrm>
          <a:prstGeom prst="rect">
            <a:avLst/>
          </a:prstGeom>
        </p:spPr>
      </p:pic>
    </p:spTree>
    <p:extLst>
      <p:ext uri="{BB962C8B-B14F-4D97-AF65-F5344CB8AC3E}">
        <p14:creationId xmlns:p14="http://schemas.microsoft.com/office/powerpoint/2010/main" val="3885416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88255-B349-221E-929E-23C2AA9C81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D4ADF0-FD76-0959-40F1-F100B0922D49}"/>
              </a:ext>
            </a:extLst>
          </p:cNvPr>
          <p:cNvSpPr>
            <a:spLocks noGrp="1"/>
          </p:cNvSpPr>
          <p:nvPr>
            <p:ph idx="1"/>
          </p:nvPr>
        </p:nvSpPr>
        <p:spPr/>
        <p:txBody>
          <a:bodyPr/>
          <a:lstStyle/>
          <a:p>
            <a:endParaRPr lang="en-US"/>
          </a:p>
        </p:txBody>
      </p:sp>
      <p:sp>
        <p:nvSpPr>
          <p:cNvPr id="7" name="TextBox 6">
            <a:extLst>
              <a:ext uri="{FF2B5EF4-FFF2-40B4-BE49-F238E27FC236}">
                <a16:creationId xmlns:a16="http://schemas.microsoft.com/office/drawing/2014/main" id="{D1D35B69-709B-F20C-9D72-8264A2126750}"/>
              </a:ext>
            </a:extLst>
          </p:cNvPr>
          <p:cNvSpPr txBox="1"/>
          <p:nvPr/>
        </p:nvSpPr>
        <p:spPr>
          <a:xfrm>
            <a:off x="269821" y="473707"/>
            <a:ext cx="11137693" cy="6044219"/>
          </a:xfrm>
          <a:prstGeom prst="rect">
            <a:avLst/>
          </a:prstGeom>
          <a:noFill/>
        </p:spPr>
        <p:txBody>
          <a:bodyPr wrap="square">
            <a:spAutoFit/>
          </a:bodyPr>
          <a:lstStyle/>
          <a:p>
            <a:pPr>
              <a:lnSpc>
                <a:spcPct val="150000"/>
              </a:lnSpc>
            </a:pPr>
            <a:r>
              <a:rPr lang="en-US" sz="2000" b="1" dirty="0">
                <a:solidFill>
                  <a:schemeClr val="accent1"/>
                </a:solidFill>
              </a:rPr>
              <a:t>Docker Enterprise Components</a:t>
            </a:r>
          </a:p>
          <a:p>
            <a:pPr>
              <a:lnSpc>
                <a:spcPct val="150000"/>
              </a:lnSpc>
            </a:pPr>
            <a:r>
              <a:rPr lang="en-US" sz="2000" dirty="0"/>
              <a:t>1️⃣ </a:t>
            </a:r>
            <a:r>
              <a:rPr lang="en-US" sz="2000" b="1" dirty="0"/>
              <a:t>Docker Trusted Registry (DTR)</a:t>
            </a:r>
            <a:r>
              <a:rPr lang="en-US" sz="2000" dirty="0"/>
              <a:t> 🏦</a:t>
            </a:r>
          </a:p>
          <a:p>
            <a:pPr>
              <a:lnSpc>
                <a:spcPct val="150000"/>
              </a:lnSpc>
              <a:buFont typeface="Arial" panose="020B0604020202020204" pitchFamily="34" charset="0"/>
              <a:buChar char="•"/>
            </a:pPr>
            <a:r>
              <a:rPr lang="en-US" sz="2000" dirty="0"/>
              <a:t>A </a:t>
            </a:r>
            <a:r>
              <a:rPr lang="en-US" sz="2000" b="1" dirty="0"/>
              <a:t>secure storage</a:t>
            </a:r>
            <a:r>
              <a:rPr lang="en-US" sz="2000" dirty="0"/>
              <a:t> for Docker images.</a:t>
            </a:r>
          </a:p>
          <a:p>
            <a:pPr>
              <a:lnSpc>
                <a:spcPct val="150000"/>
              </a:lnSpc>
              <a:buFont typeface="Arial" panose="020B0604020202020204" pitchFamily="34" charset="0"/>
              <a:buChar char="•"/>
            </a:pPr>
            <a:r>
              <a:rPr lang="en-US" sz="2000" dirty="0"/>
              <a:t>Ensures </a:t>
            </a:r>
            <a:r>
              <a:rPr lang="en-US" sz="2000" b="1" dirty="0"/>
              <a:t>trusted</a:t>
            </a:r>
            <a:r>
              <a:rPr lang="en-US" sz="2000" dirty="0"/>
              <a:t> and </a:t>
            </a:r>
            <a:r>
              <a:rPr lang="en-US" sz="2000" b="1" dirty="0"/>
              <a:t>verified</a:t>
            </a:r>
            <a:r>
              <a:rPr lang="en-US" sz="2000" dirty="0"/>
              <a:t> images for deployment.</a:t>
            </a:r>
          </a:p>
          <a:p>
            <a:pPr>
              <a:lnSpc>
                <a:spcPct val="150000"/>
              </a:lnSpc>
            </a:pPr>
            <a:r>
              <a:rPr lang="en-US" sz="2000" dirty="0"/>
              <a:t>2️⃣ </a:t>
            </a:r>
            <a:r>
              <a:rPr lang="en-US" sz="2000" b="1" dirty="0"/>
              <a:t>Universal Control Plane (UCP) Web UI</a:t>
            </a:r>
            <a:r>
              <a:rPr lang="en-US" sz="2000" dirty="0"/>
              <a:t> 🌐</a:t>
            </a:r>
          </a:p>
          <a:p>
            <a:pPr>
              <a:lnSpc>
                <a:spcPct val="150000"/>
              </a:lnSpc>
              <a:buFont typeface="Arial" panose="020B0604020202020204" pitchFamily="34" charset="0"/>
              <a:buChar char="•"/>
            </a:pPr>
            <a:r>
              <a:rPr lang="en-US" sz="2000" dirty="0"/>
              <a:t>Centralized </a:t>
            </a:r>
            <a:r>
              <a:rPr lang="en-US" sz="2000" b="1" dirty="0"/>
              <a:t>management</a:t>
            </a:r>
            <a:r>
              <a:rPr lang="en-US" sz="2000" dirty="0"/>
              <a:t> for the entire cluster.</a:t>
            </a:r>
          </a:p>
          <a:p>
            <a:pPr>
              <a:lnSpc>
                <a:spcPct val="150000"/>
              </a:lnSpc>
              <a:buFont typeface="Arial" panose="020B0604020202020204" pitchFamily="34" charset="0"/>
              <a:buChar char="•"/>
            </a:pPr>
            <a:r>
              <a:rPr lang="en-US" sz="2000" dirty="0"/>
              <a:t>Enables </a:t>
            </a:r>
            <a:r>
              <a:rPr lang="en-US" sz="2000" b="1" dirty="0"/>
              <a:t>easy deployment</a:t>
            </a:r>
            <a:r>
              <a:rPr lang="en-US" sz="2000" dirty="0"/>
              <a:t> of services using stored Docker images.</a:t>
            </a:r>
          </a:p>
          <a:p>
            <a:pPr>
              <a:lnSpc>
                <a:spcPct val="150000"/>
              </a:lnSpc>
            </a:pPr>
            <a:r>
              <a:rPr lang="en-US" sz="2000" dirty="0"/>
              <a:t>3️⃣ </a:t>
            </a:r>
            <a:r>
              <a:rPr lang="en-US" sz="2000" b="1" dirty="0"/>
              <a:t>IT Ops Automation with UCP</a:t>
            </a:r>
            <a:r>
              <a:rPr lang="en-US" sz="2000" dirty="0"/>
              <a:t> ⚙️</a:t>
            </a:r>
          </a:p>
          <a:p>
            <a:pPr>
              <a:lnSpc>
                <a:spcPct val="150000"/>
              </a:lnSpc>
              <a:buFont typeface="Arial" panose="020B0604020202020204" pitchFamily="34" charset="0"/>
              <a:buChar char="•"/>
            </a:pPr>
            <a:r>
              <a:rPr lang="en-US" sz="2000" dirty="0"/>
              <a:t>IT teams use </a:t>
            </a:r>
            <a:r>
              <a:rPr lang="en-US" sz="2000" b="1" dirty="0"/>
              <a:t>UCP to provision</a:t>
            </a:r>
            <a:r>
              <a:rPr lang="en-US" sz="2000" dirty="0"/>
              <a:t> Docker-installed software on hosts.</a:t>
            </a:r>
          </a:p>
          <a:p>
            <a:pPr>
              <a:lnSpc>
                <a:spcPct val="150000"/>
              </a:lnSpc>
              <a:buFont typeface="Arial" panose="020B0604020202020204" pitchFamily="34" charset="0"/>
              <a:buChar char="•"/>
            </a:pPr>
            <a:r>
              <a:rPr lang="en-US" sz="2000" dirty="0"/>
              <a:t>Simplifies application deployment by eliminating </a:t>
            </a:r>
            <a:r>
              <a:rPr lang="en-US" sz="2000" b="1" dirty="0"/>
              <a:t>manual setup</a:t>
            </a:r>
            <a:r>
              <a:rPr lang="en-US" sz="2000" dirty="0"/>
              <a:t>.</a:t>
            </a:r>
          </a:p>
          <a:p>
            <a:pPr>
              <a:lnSpc>
                <a:spcPct val="150000"/>
              </a:lnSpc>
            </a:pPr>
            <a:r>
              <a:rPr lang="en-US" sz="2000" dirty="0"/>
              <a:t>4️⃣ </a:t>
            </a:r>
            <a:r>
              <a:rPr lang="en-US" sz="2000" b="1" dirty="0"/>
              <a:t>LDAP Integration for Access Management</a:t>
            </a:r>
            <a:r>
              <a:rPr lang="en-US" sz="2000" dirty="0"/>
              <a:t> 🔐</a:t>
            </a:r>
          </a:p>
          <a:p>
            <a:pPr>
              <a:lnSpc>
                <a:spcPct val="150000"/>
              </a:lnSpc>
              <a:buFont typeface="Arial" panose="020B0604020202020204" pitchFamily="34" charset="0"/>
              <a:buChar char="•"/>
            </a:pPr>
            <a:r>
              <a:rPr lang="en-US" sz="2000" dirty="0"/>
              <a:t>UCP and DTR integrate with </a:t>
            </a:r>
            <a:r>
              <a:rPr lang="en-US" sz="2000" b="1" dirty="0"/>
              <a:t>LDAP servers</a:t>
            </a:r>
            <a:r>
              <a:rPr lang="en-US" sz="2000" dirty="0"/>
              <a:t> to streamline </a:t>
            </a:r>
            <a:r>
              <a:rPr lang="en-US" sz="2000" b="1" dirty="0"/>
              <a:t>user authentication and access control</a:t>
            </a:r>
            <a:r>
              <a:rPr lang="en-US" sz="2000" dirty="0"/>
              <a:t>.</a:t>
            </a:r>
          </a:p>
          <a:p>
            <a:pPr>
              <a:lnSpc>
                <a:spcPct val="150000"/>
              </a:lnSpc>
            </a:pPr>
            <a:r>
              <a:rPr lang="en-US" sz="2000" dirty="0"/>
              <a:t>🚀 </a:t>
            </a:r>
            <a:r>
              <a:rPr lang="en-US" sz="2000" b="1" dirty="0"/>
              <a:t>Key Benefit:</a:t>
            </a:r>
            <a:r>
              <a:rPr lang="en-US" sz="2000" dirty="0"/>
              <a:t> Provides </a:t>
            </a:r>
            <a:r>
              <a:rPr lang="en-US" sz="2000" b="1" dirty="0"/>
              <a:t>secure, scalable, and automated</a:t>
            </a:r>
            <a:r>
              <a:rPr lang="en-US" sz="2000" dirty="0"/>
              <a:t> management of containerized applications</a:t>
            </a:r>
          </a:p>
        </p:txBody>
      </p:sp>
    </p:spTree>
    <p:extLst>
      <p:ext uri="{BB962C8B-B14F-4D97-AF65-F5344CB8AC3E}">
        <p14:creationId xmlns:p14="http://schemas.microsoft.com/office/powerpoint/2010/main" val="4228278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9FF46-DD97-B51D-5C02-2EC4BF4517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CC2175-7B44-8AB6-A10B-7399A8F59F2C}"/>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682C802C-6BE5-AB57-5E7E-277849CB2720}"/>
              </a:ext>
            </a:extLst>
          </p:cNvPr>
          <p:cNvSpPr txBox="1"/>
          <p:nvPr/>
        </p:nvSpPr>
        <p:spPr>
          <a:xfrm>
            <a:off x="329783" y="608452"/>
            <a:ext cx="6265888" cy="402033"/>
          </a:xfrm>
          <a:prstGeom prst="rect">
            <a:avLst/>
          </a:prstGeom>
          <a:noFill/>
        </p:spPr>
        <p:txBody>
          <a:bodyPr wrap="square">
            <a:spAutoFit/>
          </a:bodyPr>
          <a:lstStyle/>
          <a:p>
            <a:pPr algn="l">
              <a:lnSpc>
                <a:spcPts val="2550"/>
              </a:lnSpc>
              <a:spcBef>
                <a:spcPts val="3750"/>
              </a:spcBef>
              <a:spcAft>
                <a:spcPts val="2250"/>
              </a:spcAft>
            </a:pPr>
            <a:r>
              <a:rPr lang="en-US" b="1" i="0" dirty="0">
                <a:solidFill>
                  <a:schemeClr val="accent1"/>
                </a:solidFill>
                <a:effectLst/>
                <a:latin typeface="Open Sans" panose="020B0606030504020204" pitchFamily="34" charset="0"/>
              </a:rPr>
              <a:t>Docker Hands-On</a:t>
            </a:r>
            <a:endParaRPr lang="en-US" b="0" i="0" dirty="0">
              <a:solidFill>
                <a:schemeClr val="accent1"/>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C23671A6-C405-8DF8-F699-1C3AF94E2555}"/>
              </a:ext>
            </a:extLst>
          </p:cNvPr>
          <p:cNvSpPr txBox="1"/>
          <p:nvPr/>
        </p:nvSpPr>
        <p:spPr>
          <a:xfrm>
            <a:off x="449703" y="1251441"/>
            <a:ext cx="11122703" cy="1477328"/>
          </a:xfrm>
          <a:prstGeom prst="rect">
            <a:avLst/>
          </a:prstGeom>
          <a:noFill/>
        </p:spPr>
        <p:txBody>
          <a:bodyPr wrap="square">
            <a:spAutoFit/>
          </a:bodyPr>
          <a:lstStyle/>
          <a:p>
            <a:pPr marL="285750" indent="-285750">
              <a:buFont typeface="Arial" panose="020B0604020202020204" pitchFamily="34" charset="0"/>
              <a:buChar char="•"/>
            </a:pPr>
            <a:r>
              <a:rPr lang="en-US" b="1" i="0" dirty="0">
                <a:effectLst/>
                <a:latin typeface="Open Sans" panose="020B0606030504020204" pitchFamily="34" charset="0"/>
              </a:rPr>
              <a:t>Docker Compose:</a:t>
            </a:r>
            <a:r>
              <a:rPr lang="en-US" b="0" i="0" dirty="0">
                <a:effectLst/>
                <a:latin typeface="Open Sans" panose="020B0606030504020204" pitchFamily="34" charset="0"/>
              </a:rPr>
              <a:t> It is a tool for defining and running multi-container Docker applications. </a:t>
            </a:r>
          </a:p>
          <a:p>
            <a:pPr marL="285750" indent="-285750">
              <a:buFont typeface="Arial" panose="020B0604020202020204" pitchFamily="34" charset="0"/>
              <a:buChar char="•"/>
            </a:pPr>
            <a:endParaRPr lang="en-US" dirty="0">
              <a:latin typeface="Open Sans" panose="020B0606030504020204" pitchFamily="34" charset="0"/>
            </a:endParaRPr>
          </a:p>
          <a:p>
            <a:pPr marL="285750" indent="-285750">
              <a:buFont typeface="Arial" panose="020B0604020202020204" pitchFamily="34" charset="0"/>
              <a:buChar char="•"/>
            </a:pPr>
            <a:r>
              <a:rPr lang="en-US" b="0" i="0" dirty="0">
                <a:effectLst/>
                <a:latin typeface="Open Sans" panose="020B0606030504020204" pitchFamily="34" charset="0"/>
              </a:rPr>
              <a:t>With Docker Compose, we can use a Compose file to configure our application’s services. </a:t>
            </a:r>
          </a:p>
          <a:p>
            <a:pPr marL="285750" indent="-285750">
              <a:buFont typeface="Arial" panose="020B0604020202020204" pitchFamily="34" charset="0"/>
              <a:buChar char="•"/>
            </a:pPr>
            <a:endParaRPr lang="en-US" dirty="0">
              <a:latin typeface="Open Sans" panose="020B0606030504020204" pitchFamily="34" charset="0"/>
            </a:endParaRPr>
          </a:p>
          <a:p>
            <a:pPr marL="285750" indent="-285750">
              <a:buFont typeface="Arial" panose="020B0604020202020204" pitchFamily="34" charset="0"/>
              <a:buChar char="•"/>
            </a:pPr>
            <a:r>
              <a:rPr lang="en-US" b="0" i="0" dirty="0">
                <a:effectLst/>
                <a:latin typeface="Open Sans" panose="020B0606030504020204" pitchFamily="34" charset="0"/>
              </a:rPr>
              <a:t>Then, using a single command, we can create and start all the services from our configuration.</a:t>
            </a:r>
            <a:endParaRPr lang="en-US" dirty="0"/>
          </a:p>
        </p:txBody>
      </p:sp>
      <p:sp>
        <p:nvSpPr>
          <p:cNvPr id="9" name="TextBox 8">
            <a:extLst>
              <a:ext uri="{FF2B5EF4-FFF2-40B4-BE49-F238E27FC236}">
                <a16:creationId xmlns:a16="http://schemas.microsoft.com/office/drawing/2014/main" id="{35628F18-1D4D-5B14-1F78-16CD6C0C625E}"/>
              </a:ext>
            </a:extLst>
          </p:cNvPr>
          <p:cNvSpPr txBox="1"/>
          <p:nvPr/>
        </p:nvSpPr>
        <p:spPr>
          <a:xfrm>
            <a:off x="329783" y="2876445"/>
            <a:ext cx="11497456" cy="3373103"/>
          </a:xfrm>
          <a:prstGeom prst="rect">
            <a:avLst/>
          </a:prstGeom>
          <a:noFill/>
        </p:spPr>
        <p:txBody>
          <a:bodyPr wrap="square">
            <a:spAutoFit/>
          </a:bodyPr>
          <a:lstStyle/>
          <a:p>
            <a:pPr algn="just">
              <a:lnSpc>
                <a:spcPct val="150000"/>
              </a:lnSpc>
            </a:pPr>
            <a:r>
              <a:rPr lang="en-US" b="1" i="1" dirty="0">
                <a:solidFill>
                  <a:schemeClr val="accent1"/>
                </a:solidFill>
                <a:effectLst/>
                <a:latin typeface="Open Sans" panose="020B0606030504020204" pitchFamily="34" charset="0"/>
              </a:rPr>
              <a:t>Suppose </a:t>
            </a:r>
            <a:r>
              <a:rPr lang="en-US" b="1" i="1" dirty="0">
                <a:solidFill>
                  <a:schemeClr val="accent1"/>
                </a:solidFill>
                <a:latin typeface="Open Sans" panose="020B0606030504020204" pitchFamily="34" charset="0"/>
              </a:rPr>
              <a:t>we</a:t>
            </a:r>
            <a:r>
              <a:rPr lang="en-US" b="1" i="1" dirty="0">
                <a:solidFill>
                  <a:schemeClr val="accent1"/>
                </a:solidFill>
                <a:effectLst/>
                <a:latin typeface="Open Sans" panose="020B0606030504020204" pitchFamily="34" charset="0"/>
              </a:rPr>
              <a:t> have multiple applications in various containers and all those containers are linked together. So, we don’t want to execute each of those containers one by one. into we want to run those containers with a single command. </a:t>
            </a:r>
          </a:p>
          <a:p>
            <a:pPr algn="just">
              <a:lnSpc>
                <a:spcPct val="150000"/>
              </a:lnSpc>
            </a:pPr>
            <a:endParaRPr lang="en-US" dirty="0">
              <a:latin typeface="Open Sans" panose="020B0606030504020204" pitchFamily="34" charset="0"/>
            </a:endParaRPr>
          </a:p>
          <a:p>
            <a:pPr marL="285750" indent="-285750" algn="just">
              <a:lnSpc>
                <a:spcPct val="150000"/>
              </a:lnSpc>
              <a:buFont typeface="Arial" panose="020B0604020202020204" pitchFamily="34" charset="0"/>
              <a:buChar char="•"/>
            </a:pPr>
            <a:r>
              <a:rPr lang="en-US" b="0" i="0" dirty="0">
                <a:effectLst/>
                <a:latin typeface="Open Sans" panose="020B0606030504020204" pitchFamily="34" charset="0"/>
              </a:rPr>
              <a:t>That’s where Docker Compose comes into the picture. </a:t>
            </a:r>
          </a:p>
          <a:p>
            <a:pPr marL="285750" indent="-285750" algn="just">
              <a:lnSpc>
                <a:spcPct val="150000"/>
              </a:lnSpc>
              <a:buFont typeface="Arial" panose="020B0604020202020204" pitchFamily="34" charset="0"/>
              <a:buChar char="•"/>
            </a:pPr>
            <a:endParaRPr lang="en-US" dirty="0">
              <a:latin typeface="Open Sans" panose="020B0606030504020204" pitchFamily="34" charset="0"/>
            </a:endParaRPr>
          </a:p>
          <a:p>
            <a:pPr marL="285750" indent="-285750" algn="just">
              <a:lnSpc>
                <a:spcPct val="150000"/>
              </a:lnSpc>
              <a:buFont typeface="Arial" panose="020B0604020202020204" pitchFamily="34" charset="0"/>
              <a:buChar char="•"/>
            </a:pPr>
            <a:r>
              <a:rPr lang="en-US" b="0" i="0" dirty="0">
                <a:effectLst/>
                <a:latin typeface="Open Sans" panose="020B0606030504020204" pitchFamily="34" charset="0"/>
              </a:rPr>
              <a:t>With it you can run multiple applications in various containers with a single command. i.e. docker-compose up.</a:t>
            </a:r>
            <a:endParaRPr lang="en-US" dirty="0"/>
          </a:p>
        </p:txBody>
      </p:sp>
    </p:spTree>
    <p:extLst>
      <p:ext uri="{BB962C8B-B14F-4D97-AF65-F5344CB8AC3E}">
        <p14:creationId xmlns:p14="http://schemas.microsoft.com/office/powerpoint/2010/main" val="1373798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CA68-3D99-2286-968E-DE3B6FDCAC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7BB573-3AC5-9FCB-BE55-8BB0084D4EEB}"/>
              </a:ext>
            </a:extLst>
          </p:cNvPr>
          <p:cNvSpPr>
            <a:spLocks noGrp="1"/>
          </p:cNvSpPr>
          <p:nvPr>
            <p:ph idx="1"/>
          </p:nvPr>
        </p:nvSpPr>
        <p:spPr/>
        <p:txBody>
          <a:bodyPr/>
          <a:lstStyle/>
          <a:p>
            <a:endParaRPr lang="en-US"/>
          </a:p>
        </p:txBody>
      </p:sp>
      <p:sp>
        <p:nvSpPr>
          <p:cNvPr id="24" name="TextBox 23">
            <a:extLst>
              <a:ext uri="{FF2B5EF4-FFF2-40B4-BE49-F238E27FC236}">
                <a16:creationId xmlns:a16="http://schemas.microsoft.com/office/drawing/2014/main" id="{3772651B-1015-3DFC-1FC7-9E6D4D6A533A}"/>
              </a:ext>
            </a:extLst>
          </p:cNvPr>
          <p:cNvSpPr txBox="1"/>
          <p:nvPr/>
        </p:nvSpPr>
        <p:spPr>
          <a:xfrm>
            <a:off x="202364" y="226398"/>
            <a:ext cx="10268263" cy="2782878"/>
          </a:xfrm>
          <a:prstGeom prst="rect">
            <a:avLst/>
          </a:prstGeom>
          <a:noFill/>
        </p:spPr>
        <p:txBody>
          <a:bodyPr wrap="square">
            <a:spAutoFit/>
          </a:bodyPr>
          <a:lstStyle/>
          <a:p>
            <a:pPr>
              <a:lnSpc>
                <a:spcPct val="200000"/>
              </a:lnSpc>
            </a:pPr>
            <a:r>
              <a:rPr lang="en-US" b="1" dirty="0">
                <a:solidFill>
                  <a:schemeClr val="accent1"/>
                </a:solidFill>
              </a:rPr>
              <a:t>Example: Deploying WordPress with Docker Compose</a:t>
            </a:r>
          </a:p>
          <a:p>
            <a:pPr>
              <a:lnSpc>
                <a:spcPct val="200000"/>
              </a:lnSpc>
            </a:pPr>
            <a:r>
              <a:rPr lang="en-US" dirty="0"/>
              <a:t>To deploy a WordPress site using </a:t>
            </a:r>
            <a:r>
              <a:rPr lang="en-US" b="1" dirty="0"/>
              <a:t>Docker Containers</a:t>
            </a:r>
            <a:r>
              <a:rPr lang="en-US" dirty="0"/>
              <a:t>, we need three main components:</a:t>
            </a:r>
          </a:p>
          <a:p>
            <a:pPr>
              <a:lnSpc>
                <a:spcPct val="200000"/>
              </a:lnSpc>
            </a:pPr>
            <a:r>
              <a:rPr lang="en-US" dirty="0"/>
              <a:t>1️⃣ </a:t>
            </a:r>
            <a:r>
              <a:rPr lang="en-US" b="1" dirty="0"/>
              <a:t>WordPress Container</a:t>
            </a:r>
            <a:r>
              <a:rPr lang="en-US" dirty="0"/>
              <a:t> 📝 (CMS for managing content)</a:t>
            </a:r>
            <a:br>
              <a:rPr lang="en-US" dirty="0"/>
            </a:br>
            <a:r>
              <a:rPr lang="en-US" dirty="0"/>
              <a:t>2️⃣ </a:t>
            </a:r>
            <a:r>
              <a:rPr lang="en-US" b="1" dirty="0"/>
              <a:t>MariaDB Container</a:t>
            </a:r>
            <a:r>
              <a:rPr lang="en-US" dirty="0"/>
              <a:t> 🗄️ (Database to store WordPress data)</a:t>
            </a:r>
            <a:br>
              <a:rPr lang="en-US" dirty="0"/>
            </a:br>
            <a:r>
              <a:rPr lang="en-US" dirty="0"/>
              <a:t>3️⃣ </a:t>
            </a:r>
            <a:r>
              <a:rPr lang="en-US" b="1" dirty="0"/>
              <a:t>PhpMyAdmin Container</a:t>
            </a:r>
            <a:r>
              <a:rPr lang="en-US" dirty="0"/>
              <a:t> ⚙️ (For managing the database)</a:t>
            </a:r>
          </a:p>
        </p:txBody>
      </p:sp>
      <p:sp>
        <p:nvSpPr>
          <p:cNvPr id="26" name="TextBox 25">
            <a:extLst>
              <a:ext uri="{FF2B5EF4-FFF2-40B4-BE49-F238E27FC236}">
                <a16:creationId xmlns:a16="http://schemas.microsoft.com/office/drawing/2014/main" id="{28AF944C-4ED5-D457-286A-D963EE895B37}"/>
              </a:ext>
            </a:extLst>
          </p:cNvPr>
          <p:cNvSpPr txBox="1"/>
          <p:nvPr/>
        </p:nvSpPr>
        <p:spPr>
          <a:xfrm>
            <a:off x="254829" y="3020519"/>
            <a:ext cx="10163331" cy="3338735"/>
          </a:xfrm>
          <a:prstGeom prst="rect">
            <a:avLst/>
          </a:prstGeom>
          <a:noFill/>
        </p:spPr>
        <p:txBody>
          <a:bodyPr wrap="square">
            <a:spAutoFit/>
          </a:bodyPr>
          <a:lstStyle/>
          <a:p>
            <a:pPr>
              <a:lnSpc>
                <a:spcPct val="200000"/>
              </a:lnSpc>
            </a:pPr>
            <a:r>
              <a:rPr lang="en-US" b="1" dirty="0">
                <a:solidFill>
                  <a:schemeClr val="accent1"/>
                </a:solidFill>
              </a:rPr>
              <a:t>Steps to Set Up WordPress with Docker Compose</a:t>
            </a:r>
          </a:p>
          <a:p>
            <a:pPr>
              <a:lnSpc>
                <a:spcPct val="200000"/>
              </a:lnSpc>
            </a:pPr>
            <a:r>
              <a:rPr lang="en-US" dirty="0"/>
              <a:t>✅ </a:t>
            </a:r>
            <a:r>
              <a:rPr lang="en-US" b="1" dirty="0"/>
              <a:t>Step 1: Install Docker &amp; Docker Compose</a:t>
            </a:r>
            <a:endParaRPr lang="en-US" dirty="0"/>
          </a:p>
          <a:p>
            <a:pPr>
              <a:lnSpc>
                <a:spcPct val="200000"/>
              </a:lnSpc>
              <a:buFont typeface="Arial" panose="020B0604020202020204" pitchFamily="34" charset="0"/>
              <a:buChar char="•"/>
            </a:pPr>
            <a:r>
              <a:rPr lang="en-US" dirty="0"/>
              <a:t>Ensure Docker is installed on your system.</a:t>
            </a:r>
          </a:p>
          <a:p>
            <a:pPr>
              <a:lnSpc>
                <a:spcPct val="200000"/>
              </a:lnSpc>
              <a:buFont typeface="Arial" panose="020B0604020202020204" pitchFamily="34" charset="0"/>
              <a:buChar char="•"/>
            </a:pPr>
            <a:r>
              <a:rPr lang="en-US" dirty="0"/>
              <a:t>Install Docker Compose to manage multi-container applications.</a:t>
            </a:r>
          </a:p>
          <a:p>
            <a:pPr>
              <a:lnSpc>
                <a:spcPct val="200000"/>
              </a:lnSpc>
            </a:pPr>
            <a:r>
              <a:rPr lang="en-US" dirty="0"/>
              <a:t>✅ </a:t>
            </a:r>
            <a:r>
              <a:rPr lang="en-US" b="1" dirty="0"/>
              <a:t>Step 2: Deploy WordPress &amp; MariaDB Containers</a:t>
            </a:r>
            <a:endParaRPr lang="en-US" dirty="0"/>
          </a:p>
          <a:p>
            <a:pPr>
              <a:lnSpc>
                <a:spcPct val="200000"/>
              </a:lnSpc>
              <a:buFont typeface="Arial" panose="020B0604020202020204" pitchFamily="34" charset="0"/>
              <a:buChar char="•"/>
            </a:pPr>
            <a:r>
              <a:rPr lang="en-US" dirty="0"/>
              <a:t>Use </a:t>
            </a:r>
            <a:r>
              <a:rPr lang="en-US" b="1" dirty="0"/>
              <a:t>official WordPress and MariaDB Docker images</a:t>
            </a:r>
            <a:r>
              <a:rPr lang="en-US" dirty="0"/>
              <a:t>.</a:t>
            </a:r>
          </a:p>
        </p:txBody>
      </p:sp>
    </p:spTree>
    <p:extLst>
      <p:ext uri="{BB962C8B-B14F-4D97-AF65-F5344CB8AC3E}">
        <p14:creationId xmlns:p14="http://schemas.microsoft.com/office/powerpoint/2010/main" val="1295892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D4F4-C9AC-EBAA-905D-A461AC4901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0AA078-01C8-366A-81EF-C01E9615A1DB}"/>
              </a:ext>
            </a:extLst>
          </p:cNvPr>
          <p:cNvSpPr>
            <a:spLocks noGrp="1"/>
          </p:cNvSpPr>
          <p:nvPr>
            <p:ph idx="1"/>
          </p:nvPr>
        </p:nvSpPr>
        <p:spPr/>
        <p:txBody>
          <a:bodyPr/>
          <a:lstStyle/>
          <a:p>
            <a:endParaRPr lang="en-US"/>
          </a:p>
        </p:txBody>
      </p:sp>
      <p:sp>
        <p:nvSpPr>
          <p:cNvPr id="12" name="TextBox 11">
            <a:extLst>
              <a:ext uri="{FF2B5EF4-FFF2-40B4-BE49-F238E27FC236}">
                <a16:creationId xmlns:a16="http://schemas.microsoft.com/office/drawing/2014/main" id="{DC0A5B87-05A9-C23F-83B6-6FCA1BA20D25}"/>
              </a:ext>
            </a:extLst>
          </p:cNvPr>
          <p:cNvSpPr txBox="1"/>
          <p:nvPr/>
        </p:nvSpPr>
        <p:spPr>
          <a:xfrm>
            <a:off x="269822" y="998879"/>
            <a:ext cx="11390027" cy="707886"/>
          </a:xfrm>
          <a:prstGeom prst="rect">
            <a:avLst/>
          </a:prstGeom>
          <a:noFill/>
        </p:spPr>
        <p:txBody>
          <a:bodyPr wrap="square">
            <a:spAutoFit/>
          </a:bodyPr>
          <a:lstStyle/>
          <a:p>
            <a:r>
              <a:rPr lang="en-US" sz="2000" b="1" dirty="0"/>
              <a:t>Step 3: Configure PhpMyAdmin</a:t>
            </a:r>
            <a:endParaRPr lang="en-US" sz="2000" dirty="0"/>
          </a:p>
          <a:p>
            <a:pPr>
              <a:buFont typeface="Arial" panose="020B0604020202020204" pitchFamily="34" charset="0"/>
              <a:buChar char="•"/>
            </a:pPr>
            <a:r>
              <a:rPr lang="en-US" sz="2000" dirty="0"/>
              <a:t>Link PhpMyAdmin with </a:t>
            </a:r>
            <a:r>
              <a:rPr lang="en-US" sz="2000" b="1" dirty="0"/>
              <a:t>MariaDB</a:t>
            </a:r>
            <a:r>
              <a:rPr lang="en-US" sz="2000" dirty="0"/>
              <a:t> for easy database management.</a:t>
            </a:r>
          </a:p>
        </p:txBody>
      </p:sp>
      <p:sp>
        <p:nvSpPr>
          <p:cNvPr id="15" name="TextBox 14">
            <a:extLst>
              <a:ext uri="{FF2B5EF4-FFF2-40B4-BE49-F238E27FC236}">
                <a16:creationId xmlns:a16="http://schemas.microsoft.com/office/drawing/2014/main" id="{53CD0F12-1EA8-A651-3387-982BA0A9551E}"/>
              </a:ext>
            </a:extLst>
          </p:cNvPr>
          <p:cNvSpPr txBox="1"/>
          <p:nvPr/>
        </p:nvSpPr>
        <p:spPr>
          <a:xfrm>
            <a:off x="269822" y="2673831"/>
            <a:ext cx="9908498" cy="400110"/>
          </a:xfrm>
          <a:prstGeom prst="rect">
            <a:avLst/>
          </a:prstGeom>
          <a:noFill/>
        </p:spPr>
        <p:txBody>
          <a:bodyPr wrap="square">
            <a:spAutoFit/>
          </a:bodyPr>
          <a:lstStyle/>
          <a:p>
            <a:r>
              <a:rPr lang="en-US" dirty="0"/>
              <a:t> </a:t>
            </a:r>
            <a:r>
              <a:rPr lang="en-US" sz="2000" b="1" dirty="0"/>
              <a:t>Step 4: Run the </a:t>
            </a:r>
            <a:r>
              <a:rPr lang="en-US" sz="2000" b="1" dirty="0" err="1"/>
              <a:t>ContainersUse</a:t>
            </a:r>
            <a:r>
              <a:rPr lang="en-US" sz="2000" b="1" dirty="0"/>
              <a:t> docker-compose up -d to start all containers.</a:t>
            </a:r>
          </a:p>
        </p:txBody>
      </p:sp>
      <p:sp>
        <p:nvSpPr>
          <p:cNvPr id="17" name="TextBox 16">
            <a:extLst>
              <a:ext uri="{FF2B5EF4-FFF2-40B4-BE49-F238E27FC236}">
                <a16:creationId xmlns:a16="http://schemas.microsoft.com/office/drawing/2014/main" id="{37088A29-4C22-D9D4-88FC-142A99CC0CD3}"/>
              </a:ext>
            </a:extLst>
          </p:cNvPr>
          <p:cNvSpPr txBox="1"/>
          <p:nvPr/>
        </p:nvSpPr>
        <p:spPr>
          <a:xfrm>
            <a:off x="432215" y="4184169"/>
            <a:ext cx="11227634" cy="400110"/>
          </a:xfrm>
          <a:prstGeom prst="rect">
            <a:avLst/>
          </a:prstGeom>
          <a:noFill/>
        </p:spPr>
        <p:txBody>
          <a:bodyPr wrap="square">
            <a:spAutoFit/>
          </a:bodyPr>
          <a:lstStyle/>
          <a:p>
            <a:r>
              <a:rPr lang="en-US" sz="2000" b="1" dirty="0"/>
              <a:t>Step 5: Access </a:t>
            </a:r>
            <a:r>
              <a:rPr lang="en-US" sz="2000" b="1" dirty="0" err="1"/>
              <a:t>WordPressOpen</a:t>
            </a:r>
            <a:r>
              <a:rPr lang="en-US" sz="2000" b="1" dirty="0"/>
              <a:t> your browser and visit http://localhost:8000 to configure WordPress</a:t>
            </a:r>
            <a:r>
              <a:rPr lang="en-US" dirty="0"/>
              <a:t>.</a:t>
            </a:r>
          </a:p>
        </p:txBody>
      </p:sp>
      <p:sp>
        <p:nvSpPr>
          <p:cNvPr id="19" name="TextBox 18">
            <a:extLst>
              <a:ext uri="{FF2B5EF4-FFF2-40B4-BE49-F238E27FC236}">
                <a16:creationId xmlns:a16="http://schemas.microsoft.com/office/drawing/2014/main" id="{2B4952EE-B1C2-BFE4-9DDE-4224FE878469}"/>
              </a:ext>
            </a:extLst>
          </p:cNvPr>
          <p:cNvSpPr txBox="1"/>
          <p:nvPr/>
        </p:nvSpPr>
        <p:spPr>
          <a:xfrm>
            <a:off x="432215" y="5212790"/>
            <a:ext cx="11759785" cy="646331"/>
          </a:xfrm>
          <a:prstGeom prst="rect">
            <a:avLst/>
          </a:prstGeom>
          <a:noFill/>
        </p:spPr>
        <p:txBody>
          <a:bodyPr wrap="square">
            <a:spAutoFit/>
          </a:bodyPr>
          <a:lstStyle/>
          <a:p>
            <a:r>
              <a:rPr lang="en-US" b="1" dirty="0">
                <a:solidFill>
                  <a:schemeClr val="accent1"/>
                </a:solidFill>
              </a:rPr>
              <a:t>Outcome:</a:t>
            </a:r>
            <a:br>
              <a:rPr lang="en-US" dirty="0">
                <a:solidFill>
                  <a:schemeClr val="accent1"/>
                </a:solidFill>
              </a:rPr>
            </a:br>
            <a:r>
              <a:rPr lang="en-US" dirty="0">
                <a:solidFill>
                  <a:schemeClr val="accent1"/>
                </a:solidFill>
              </a:rPr>
              <a:t>A fully functional </a:t>
            </a:r>
            <a:r>
              <a:rPr lang="en-US" b="1" dirty="0">
                <a:solidFill>
                  <a:schemeClr val="accent1"/>
                </a:solidFill>
              </a:rPr>
              <a:t>WordPress site running in Docker Containers</a:t>
            </a:r>
            <a:r>
              <a:rPr lang="en-US" dirty="0">
                <a:solidFill>
                  <a:schemeClr val="accent1"/>
                </a:solidFill>
              </a:rPr>
              <a:t>, ensuring </a:t>
            </a:r>
            <a:r>
              <a:rPr lang="en-US" b="1" dirty="0">
                <a:solidFill>
                  <a:schemeClr val="accent1"/>
                </a:solidFill>
              </a:rPr>
              <a:t>easy deployment, scalability, and portability</a:t>
            </a:r>
            <a:r>
              <a:rPr lang="en-US" dirty="0">
                <a:solidFill>
                  <a:schemeClr val="accent1"/>
                </a:solidFill>
              </a:rPr>
              <a:t>.</a:t>
            </a:r>
          </a:p>
        </p:txBody>
      </p:sp>
    </p:spTree>
    <p:extLst>
      <p:ext uri="{BB962C8B-B14F-4D97-AF65-F5344CB8AC3E}">
        <p14:creationId xmlns:p14="http://schemas.microsoft.com/office/powerpoint/2010/main" val="42344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2DBD-AC4A-481C-22EF-9E1F33558D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238B92-8659-126F-A1C2-984F8C123B60}"/>
              </a:ext>
            </a:extLst>
          </p:cNvPr>
          <p:cNvSpPr>
            <a:spLocks noGrp="1"/>
          </p:cNvSpPr>
          <p:nvPr>
            <p:ph idx="1"/>
          </p:nvPr>
        </p:nvSpPr>
        <p:spPr/>
        <p:txBody>
          <a:bodyPr/>
          <a:lstStyle/>
          <a:p>
            <a:endParaRPr lang="en-US"/>
          </a:p>
        </p:txBody>
      </p:sp>
      <p:sp>
        <p:nvSpPr>
          <p:cNvPr id="7" name="TextBox 6">
            <a:extLst>
              <a:ext uri="{FF2B5EF4-FFF2-40B4-BE49-F238E27FC236}">
                <a16:creationId xmlns:a16="http://schemas.microsoft.com/office/drawing/2014/main" id="{94BF6ECC-1685-6782-9567-187B83A1001C}"/>
              </a:ext>
            </a:extLst>
          </p:cNvPr>
          <p:cNvSpPr txBox="1"/>
          <p:nvPr/>
        </p:nvSpPr>
        <p:spPr>
          <a:xfrm>
            <a:off x="254833" y="477388"/>
            <a:ext cx="6265888" cy="967957"/>
          </a:xfrm>
          <a:prstGeom prst="rect">
            <a:avLst/>
          </a:prstGeom>
          <a:noFill/>
        </p:spPr>
        <p:txBody>
          <a:bodyPr wrap="square">
            <a:spAutoFit/>
          </a:bodyPr>
          <a:lstStyle/>
          <a:p>
            <a:pPr>
              <a:lnSpc>
                <a:spcPct val="150000"/>
              </a:lnSpc>
            </a:pPr>
            <a:r>
              <a:rPr lang="en-US" sz="2000" b="1" dirty="0"/>
              <a:t>Install Docker Compose:</a:t>
            </a:r>
          </a:p>
          <a:p>
            <a:pPr>
              <a:lnSpc>
                <a:spcPct val="150000"/>
              </a:lnSpc>
            </a:pPr>
            <a:r>
              <a:rPr lang="en-US" sz="2000" b="1" dirty="0"/>
              <a:t>Install Python Pip first: </a:t>
            </a:r>
            <a:r>
              <a:rPr lang="en-US" sz="2000" dirty="0" err="1"/>
              <a:t>sudo</a:t>
            </a:r>
            <a:r>
              <a:rPr lang="en-US" sz="2000" dirty="0"/>
              <a:t> apt-get install python-pip</a:t>
            </a:r>
          </a:p>
        </p:txBody>
      </p:sp>
      <p:pic>
        <p:nvPicPr>
          <p:cNvPr id="9220" name="Picture 4" descr="Install Python Pip - Docker Container - Edureka">
            <a:extLst>
              <a:ext uri="{FF2B5EF4-FFF2-40B4-BE49-F238E27FC236}">
                <a16:creationId xmlns:a16="http://schemas.microsoft.com/office/drawing/2014/main" id="{764E441D-5023-954D-6750-B242FF7E8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833" y="1608147"/>
            <a:ext cx="10531606" cy="113225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E649E3B-1F69-804E-23E3-7212AAACCE1B}"/>
              </a:ext>
            </a:extLst>
          </p:cNvPr>
          <p:cNvSpPr txBox="1"/>
          <p:nvPr/>
        </p:nvSpPr>
        <p:spPr>
          <a:xfrm>
            <a:off x="149901" y="3070911"/>
            <a:ext cx="8019738" cy="369332"/>
          </a:xfrm>
          <a:prstGeom prst="rect">
            <a:avLst/>
          </a:prstGeom>
          <a:noFill/>
        </p:spPr>
        <p:txBody>
          <a:bodyPr wrap="square">
            <a:spAutoFit/>
          </a:bodyPr>
          <a:lstStyle/>
          <a:p>
            <a:r>
              <a:rPr lang="en-US" b="1" dirty="0"/>
              <a:t>Now, you can install Docker Compose: </a:t>
            </a:r>
            <a:r>
              <a:rPr lang="en-US" dirty="0" err="1"/>
              <a:t>sudo</a:t>
            </a:r>
            <a:r>
              <a:rPr lang="en-US" dirty="0"/>
              <a:t> pip install docker-compose</a:t>
            </a:r>
          </a:p>
        </p:txBody>
      </p:sp>
      <p:pic>
        <p:nvPicPr>
          <p:cNvPr id="9223" name="Picture 7" descr="Install Docker Compose - Docker Container - Edureka">
            <a:extLst>
              <a:ext uri="{FF2B5EF4-FFF2-40B4-BE49-F238E27FC236}">
                <a16:creationId xmlns:a16="http://schemas.microsoft.com/office/drawing/2014/main" id="{E61233E1-6A15-4489-F8C5-953477CF6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833" y="3770755"/>
            <a:ext cx="10702977" cy="2508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83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4288-5CFC-3FF4-8D50-57F8BB0881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90C587-B80F-A671-BE18-22EC54B34ADD}"/>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FA6E7B82-2296-823E-51E3-BEA9FD787D85}"/>
              </a:ext>
            </a:extLst>
          </p:cNvPr>
          <p:cNvSpPr txBox="1"/>
          <p:nvPr/>
        </p:nvSpPr>
        <p:spPr>
          <a:xfrm>
            <a:off x="314792" y="828128"/>
            <a:ext cx="9968459" cy="1631216"/>
          </a:xfrm>
          <a:prstGeom prst="rect">
            <a:avLst/>
          </a:prstGeom>
          <a:noFill/>
        </p:spPr>
        <p:txBody>
          <a:bodyPr wrap="square">
            <a:spAutoFit/>
          </a:bodyPr>
          <a:lstStyle/>
          <a:p>
            <a:pPr algn="just"/>
            <a:r>
              <a:rPr lang="en-US" sz="2000" b="1" dirty="0"/>
              <a:t>Install WordPress:</a:t>
            </a:r>
          </a:p>
          <a:p>
            <a:pPr algn="just"/>
            <a:endParaRPr lang="en-US" sz="2000" b="1" dirty="0"/>
          </a:p>
          <a:p>
            <a:pPr algn="just"/>
            <a:r>
              <a:rPr lang="en-US" sz="2000" b="1" dirty="0"/>
              <a:t>Create a </a:t>
            </a:r>
            <a:r>
              <a:rPr lang="en-US" sz="2000" b="1" dirty="0" err="1"/>
              <a:t>wordpress</a:t>
            </a:r>
            <a:r>
              <a:rPr lang="en-US" sz="2000" b="1" dirty="0"/>
              <a:t> directory</a:t>
            </a:r>
            <a:r>
              <a:rPr lang="en-US" sz="2000" dirty="0"/>
              <a:t>: </a:t>
            </a:r>
            <a:r>
              <a:rPr lang="en-US" sz="2000" dirty="0" err="1">
                <a:highlight>
                  <a:srgbClr val="FFFF00"/>
                </a:highlight>
              </a:rPr>
              <a:t>mkdir</a:t>
            </a:r>
            <a:r>
              <a:rPr lang="en-US" sz="2000" dirty="0">
                <a:highlight>
                  <a:srgbClr val="FFFF00"/>
                </a:highlight>
              </a:rPr>
              <a:t> </a:t>
            </a:r>
            <a:r>
              <a:rPr lang="en-US" sz="2000" dirty="0" err="1">
                <a:highlight>
                  <a:srgbClr val="FFFF00"/>
                </a:highlight>
              </a:rPr>
              <a:t>wordpress</a:t>
            </a:r>
            <a:endParaRPr lang="en-US" sz="2000" dirty="0">
              <a:highlight>
                <a:srgbClr val="FFFF00"/>
              </a:highlight>
            </a:endParaRPr>
          </a:p>
          <a:p>
            <a:pPr algn="just"/>
            <a:endParaRPr lang="en-US" sz="2000" dirty="0"/>
          </a:p>
          <a:p>
            <a:pPr algn="just"/>
            <a:r>
              <a:rPr lang="en-US" sz="2000" b="1" dirty="0"/>
              <a:t>Enter this </a:t>
            </a:r>
            <a:r>
              <a:rPr lang="en-US" sz="2000" b="1" dirty="0" err="1"/>
              <a:t>wordpress</a:t>
            </a:r>
            <a:r>
              <a:rPr lang="en-US" sz="2000" b="1" dirty="0"/>
              <a:t> directory</a:t>
            </a:r>
            <a:r>
              <a:rPr lang="en-US" sz="2000" dirty="0"/>
              <a:t>: </a:t>
            </a:r>
            <a:r>
              <a:rPr lang="en-US" sz="2000" dirty="0">
                <a:highlight>
                  <a:srgbClr val="FFFF00"/>
                </a:highlight>
              </a:rPr>
              <a:t>cd </a:t>
            </a:r>
            <a:r>
              <a:rPr lang="en-US" sz="2000" dirty="0" err="1">
                <a:highlight>
                  <a:srgbClr val="FFFF00"/>
                </a:highlight>
              </a:rPr>
              <a:t>wordpress</a:t>
            </a:r>
            <a:r>
              <a:rPr lang="en-US" sz="2000" dirty="0"/>
              <a:t>/</a:t>
            </a:r>
          </a:p>
        </p:txBody>
      </p:sp>
      <p:pic>
        <p:nvPicPr>
          <p:cNvPr id="7" name="Picture 6">
            <a:extLst>
              <a:ext uri="{FF2B5EF4-FFF2-40B4-BE49-F238E27FC236}">
                <a16:creationId xmlns:a16="http://schemas.microsoft.com/office/drawing/2014/main" id="{0899A8BF-ECDF-2AC3-2B6E-165F3FABD4C9}"/>
              </a:ext>
            </a:extLst>
          </p:cNvPr>
          <p:cNvPicPr>
            <a:picLocks noChangeAspect="1"/>
          </p:cNvPicPr>
          <p:nvPr/>
        </p:nvPicPr>
        <p:blipFill>
          <a:blip r:embed="rId2"/>
          <a:stretch>
            <a:fillRect/>
          </a:stretch>
        </p:blipFill>
        <p:spPr>
          <a:xfrm>
            <a:off x="659567" y="2853757"/>
            <a:ext cx="10483121" cy="728335"/>
          </a:xfrm>
          <a:prstGeom prst="rect">
            <a:avLst/>
          </a:prstGeom>
        </p:spPr>
      </p:pic>
      <p:sp>
        <p:nvSpPr>
          <p:cNvPr id="9" name="TextBox 8">
            <a:extLst>
              <a:ext uri="{FF2B5EF4-FFF2-40B4-BE49-F238E27FC236}">
                <a16:creationId xmlns:a16="http://schemas.microsoft.com/office/drawing/2014/main" id="{CA157463-D152-C5BF-351C-22FF74BD3253}"/>
              </a:ext>
            </a:extLst>
          </p:cNvPr>
          <p:cNvSpPr txBox="1"/>
          <p:nvPr/>
        </p:nvSpPr>
        <p:spPr>
          <a:xfrm>
            <a:off x="449703" y="4541462"/>
            <a:ext cx="11317575" cy="1015663"/>
          </a:xfrm>
          <a:prstGeom prst="rect">
            <a:avLst/>
          </a:prstGeom>
          <a:noFill/>
        </p:spPr>
        <p:txBody>
          <a:bodyPr wrap="square">
            <a:spAutoFit/>
          </a:bodyPr>
          <a:lstStyle/>
          <a:p>
            <a:r>
              <a:rPr lang="en-US" sz="2000" b="1" dirty="0"/>
              <a:t>In this directory create a Docker Compose YAML file, then edit it using </a:t>
            </a:r>
            <a:r>
              <a:rPr lang="en-US" sz="2000" b="1" dirty="0" err="1"/>
              <a:t>gedit</a:t>
            </a:r>
            <a:r>
              <a:rPr lang="en-US" sz="2000" b="1" dirty="0"/>
              <a:t>:</a:t>
            </a:r>
          </a:p>
          <a:p>
            <a:endParaRPr lang="en-US" sz="2000" b="1" dirty="0"/>
          </a:p>
          <a:p>
            <a:r>
              <a:rPr lang="en-US" sz="2000" dirty="0" err="1">
                <a:highlight>
                  <a:srgbClr val="FFFF00"/>
                </a:highlight>
              </a:rPr>
              <a:t>sudo</a:t>
            </a:r>
            <a:r>
              <a:rPr lang="en-US" sz="2000" dirty="0">
                <a:highlight>
                  <a:srgbClr val="FFFF00"/>
                </a:highlight>
              </a:rPr>
              <a:t> </a:t>
            </a:r>
            <a:r>
              <a:rPr lang="en-US" sz="2000" dirty="0" err="1">
                <a:highlight>
                  <a:srgbClr val="FFFF00"/>
                </a:highlight>
              </a:rPr>
              <a:t>gedit</a:t>
            </a:r>
            <a:r>
              <a:rPr lang="en-US" sz="2000" dirty="0">
                <a:highlight>
                  <a:srgbClr val="FFFF00"/>
                </a:highlight>
              </a:rPr>
              <a:t> docker-</a:t>
            </a:r>
            <a:r>
              <a:rPr lang="en-US" sz="2000" dirty="0" err="1">
                <a:highlight>
                  <a:srgbClr val="FFFF00"/>
                </a:highlight>
              </a:rPr>
              <a:t>compose.yml</a:t>
            </a:r>
            <a:endParaRPr lang="en-US" sz="2000" dirty="0">
              <a:highlight>
                <a:srgbClr val="FFFF00"/>
              </a:highlight>
            </a:endParaRPr>
          </a:p>
        </p:txBody>
      </p:sp>
    </p:spTree>
    <p:extLst>
      <p:ext uri="{BB962C8B-B14F-4D97-AF65-F5344CB8AC3E}">
        <p14:creationId xmlns:p14="http://schemas.microsoft.com/office/powerpoint/2010/main" val="3862476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D474-8170-0DAE-30A4-E33B86C809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8A2EFF-3311-D25E-20F0-A6FC313808B1}"/>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0FB5EE51-ED30-12FD-7E79-CCCBBCFEF151}"/>
              </a:ext>
            </a:extLst>
          </p:cNvPr>
          <p:cNvSpPr txBox="1"/>
          <p:nvPr/>
        </p:nvSpPr>
        <p:spPr>
          <a:xfrm>
            <a:off x="314793" y="579832"/>
            <a:ext cx="6265888" cy="369332"/>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Paste the below lines of code in that </a:t>
            </a:r>
            <a:r>
              <a:rPr lang="en-US" b="0" i="0" dirty="0" err="1">
                <a:solidFill>
                  <a:srgbClr val="4A4A4A"/>
                </a:solidFill>
                <a:effectLst/>
                <a:latin typeface="Open Sans" panose="020B0606030504020204" pitchFamily="34" charset="0"/>
              </a:rPr>
              <a:t>yaml</a:t>
            </a:r>
            <a:r>
              <a:rPr lang="en-US" b="0" i="0" dirty="0">
                <a:solidFill>
                  <a:srgbClr val="4A4A4A"/>
                </a:solidFill>
                <a:effectLst/>
                <a:latin typeface="Open Sans" panose="020B0606030504020204" pitchFamily="34" charset="0"/>
              </a:rPr>
              <a:t> file:</a:t>
            </a:r>
            <a:endParaRPr lang="en-US" dirty="0"/>
          </a:p>
        </p:txBody>
      </p:sp>
      <p:sp>
        <p:nvSpPr>
          <p:cNvPr id="10" name="TextBox 9">
            <a:extLst>
              <a:ext uri="{FF2B5EF4-FFF2-40B4-BE49-F238E27FC236}">
                <a16:creationId xmlns:a16="http://schemas.microsoft.com/office/drawing/2014/main" id="{0A881DAA-E14E-D5B1-B804-7C113E73F1B4}"/>
              </a:ext>
            </a:extLst>
          </p:cNvPr>
          <p:cNvSpPr txBox="1"/>
          <p:nvPr/>
        </p:nvSpPr>
        <p:spPr>
          <a:xfrm>
            <a:off x="314793" y="1107521"/>
            <a:ext cx="9638676" cy="5355312"/>
          </a:xfrm>
          <a:prstGeom prst="rect">
            <a:avLst/>
          </a:prstGeom>
          <a:noFill/>
        </p:spPr>
        <p:txBody>
          <a:bodyPr wrap="square">
            <a:spAutoFit/>
          </a:bodyPr>
          <a:lstStyle/>
          <a:p>
            <a:r>
              <a:rPr lang="en-US" dirty="0" err="1"/>
              <a:t>wordpress</a:t>
            </a:r>
            <a:r>
              <a:rPr lang="en-US" dirty="0"/>
              <a:t>:</a:t>
            </a:r>
          </a:p>
          <a:p>
            <a:r>
              <a:rPr lang="en-US" dirty="0"/>
              <a:t> </a:t>
            </a:r>
          </a:p>
          <a:p>
            <a:r>
              <a:rPr lang="en-US" dirty="0"/>
              <a:t>image: </a:t>
            </a:r>
            <a:r>
              <a:rPr lang="en-US" dirty="0" err="1"/>
              <a:t>wordpress</a:t>
            </a:r>
            <a:endParaRPr lang="en-US" dirty="0"/>
          </a:p>
          <a:p>
            <a:r>
              <a:rPr lang="en-US" dirty="0"/>
              <a:t> </a:t>
            </a:r>
          </a:p>
          <a:p>
            <a:r>
              <a:rPr lang="en-US" dirty="0"/>
              <a:t>links:</a:t>
            </a:r>
          </a:p>
          <a:p>
            <a:r>
              <a:rPr lang="en-US" dirty="0"/>
              <a:t> </a:t>
            </a:r>
          </a:p>
          <a:p>
            <a:r>
              <a:rPr lang="en-US" dirty="0"/>
              <a:t>- </a:t>
            </a:r>
            <a:r>
              <a:rPr lang="en-US" dirty="0" err="1"/>
              <a:t>wordpress_db:mysql</a:t>
            </a:r>
            <a:endParaRPr lang="en-US" dirty="0"/>
          </a:p>
          <a:p>
            <a:r>
              <a:rPr lang="en-US" dirty="0"/>
              <a:t> </a:t>
            </a:r>
          </a:p>
          <a:p>
            <a:r>
              <a:rPr lang="en-US" dirty="0"/>
              <a:t>ports:</a:t>
            </a:r>
          </a:p>
          <a:p>
            <a:r>
              <a:rPr lang="en-US" dirty="0"/>
              <a:t> </a:t>
            </a:r>
          </a:p>
          <a:p>
            <a:r>
              <a:rPr lang="en-US" dirty="0"/>
              <a:t>- 8080:80</a:t>
            </a:r>
          </a:p>
          <a:p>
            <a:r>
              <a:rPr lang="en-US" dirty="0"/>
              <a:t> </a:t>
            </a:r>
          </a:p>
          <a:p>
            <a:r>
              <a:rPr lang="en-US" dirty="0" err="1"/>
              <a:t>wordpress_db</a:t>
            </a:r>
            <a:r>
              <a:rPr lang="en-US" dirty="0"/>
              <a:t>:</a:t>
            </a:r>
          </a:p>
          <a:p>
            <a:r>
              <a:rPr lang="en-US" dirty="0"/>
              <a:t> </a:t>
            </a:r>
          </a:p>
          <a:p>
            <a:r>
              <a:rPr lang="en-US" dirty="0"/>
              <a:t>image: </a:t>
            </a:r>
            <a:r>
              <a:rPr lang="en-US" dirty="0" err="1"/>
              <a:t>mariadb</a:t>
            </a:r>
            <a:endParaRPr lang="en-US" dirty="0"/>
          </a:p>
          <a:p>
            <a:r>
              <a:rPr lang="en-US" dirty="0"/>
              <a:t> </a:t>
            </a:r>
          </a:p>
          <a:p>
            <a:r>
              <a:rPr lang="en-US" dirty="0"/>
              <a:t>environment:</a:t>
            </a:r>
          </a:p>
          <a:p>
            <a:r>
              <a:rPr lang="en-US" dirty="0"/>
              <a:t> </a:t>
            </a:r>
          </a:p>
          <a:p>
            <a:endParaRPr lang="en-US" dirty="0"/>
          </a:p>
        </p:txBody>
      </p:sp>
      <p:pic>
        <p:nvPicPr>
          <p:cNvPr id="11" name="Picture 10">
            <a:extLst>
              <a:ext uri="{FF2B5EF4-FFF2-40B4-BE49-F238E27FC236}">
                <a16:creationId xmlns:a16="http://schemas.microsoft.com/office/drawing/2014/main" id="{B2418804-9AAB-3903-6BBC-A985ECC22042}"/>
              </a:ext>
            </a:extLst>
          </p:cNvPr>
          <p:cNvPicPr>
            <a:picLocks noChangeAspect="1"/>
          </p:cNvPicPr>
          <p:nvPr/>
        </p:nvPicPr>
        <p:blipFill>
          <a:blip r:embed="rId2"/>
          <a:stretch>
            <a:fillRect/>
          </a:stretch>
        </p:blipFill>
        <p:spPr>
          <a:xfrm>
            <a:off x="5426514" y="274046"/>
            <a:ext cx="5206435" cy="6309907"/>
          </a:xfrm>
          <a:prstGeom prst="rect">
            <a:avLst/>
          </a:prstGeom>
        </p:spPr>
      </p:pic>
    </p:spTree>
    <p:extLst>
      <p:ext uri="{BB962C8B-B14F-4D97-AF65-F5344CB8AC3E}">
        <p14:creationId xmlns:p14="http://schemas.microsoft.com/office/powerpoint/2010/main" val="3534722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4334-7435-E630-7720-A3F27BA0DE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6E7093-E68D-6F75-029E-402372AF7725}"/>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851D466B-AC90-E413-5531-1478C6226413}"/>
              </a:ext>
            </a:extLst>
          </p:cNvPr>
          <p:cNvSpPr txBox="1"/>
          <p:nvPr/>
        </p:nvSpPr>
        <p:spPr>
          <a:xfrm>
            <a:off x="629586" y="751344"/>
            <a:ext cx="6265888" cy="53553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MYSQL_ROOT_PASSWORD: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edureka</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phpmyadmin</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image: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corbinu</a:t>
            </a:r>
            <a:r>
              <a:rPr kumimoji="0" lang="en-US" sz="1800" b="0" i="0" u="none" strike="noStrike" kern="1200" cap="none" spc="0" normalizeH="0" baseline="0" noProof="0" dirty="0">
                <a:ln>
                  <a:noFill/>
                </a:ln>
                <a:solidFill>
                  <a:prstClr val="black"/>
                </a:solidFill>
                <a:effectLst/>
                <a:uLnTx/>
                <a:uFillTx/>
                <a:latin typeface="Calibri"/>
                <a:ea typeface="+mn-ea"/>
                <a:cs typeface="+mn-cs"/>
              </a:rPr>
              <a:t>/docker-</a:t>
            </a:r>
            <a:r>
              <a:rPr kumimoji="0" lang="en-US" sz="1800" b="0" i="0" u="none" strike="noStrike" kern="1200" cap="none" spc="0" normalizeH="0" baseline="0" noProof="0" dirty="0" err="1">
                <a:ln>
                  <a:noFill/>
                </a:ln>
                <a:solidFill>
                  <a:prstClr val="black"/>
                </a:solidFill>
                <a:effectLst/>
                <a:uLnTx/>
                <a:uFillTx/>
                <a:latin typeface="Calibri"/>
                <a:ea typeface="+mn-ea"/>
                <a:cs typeface="+mn-cs"/>
              </a:rPr>
              <a:t>phpmyadmin</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links: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wordpress_db:mysql</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ports: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- 8181:80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MYSQL_USERNAME: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MYSQL_ROOT_PASSWORD: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mitali</a:t>
            </a:r>
            <a:endParaRPr lang="en-US" dirty="0"/>
          </a:p>
        </p:txBody>
      </p:sp>
    </p:spTree>
    <p:extLst>
      <p:ext uri="{BB962C8B-B14F-4D97-AF65-F5344CB8AC3E}">
        <p14:creationId xmlns:p14="http://schemas.microsoft.com/office/powerpoint/2010/main" val="218630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BBD6-BF95-9F6C-E329-B6F6264946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94FA43-A8B4-DD58-81F9-F4AC3CEAC0BB}"/>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656FF13D-A472-4357-FF3B-5F360F33E113}"/>
              </a:ext>
            </a:extLst>
          </p:cNvPr>
          <p:cNvPicPr>
            <a:picLocks noChangeAspect="1"/>
          </p:cNvPicPr>
          <p:nvPr/>
        </p:nvPicPr>
        <p:blipFill>
          <a:blip r:embed="rId2"/>
          <a:stretch>
            <a:fillRect/>
          </a:stretch>
        </p:blipFill>
        <p:spPr>
          <a:xfrm>
            <a:off x="405497" y="829403"/>
            <a:ext cx="5294201" cy="1628984"/>
          </a:xfrm>
          <a:prstGeom prst="rect">
            <a:avLst/>
          </a:prstGeom>
        </p:spPr>
      </p:pic>
      <p:pic>
        <p:nvPicPr>
          <p:cNvPr id="8" name="Picture 7">
            <a:extLst>
              <a:ext uri="{FF2B5EF4-FFF2-40B4-BE49-F238E27FC236}">
                <a16:creationId xmlns:a16="http://schemas.microsoft.com/office/drawing/2014/main" id="{199176BE-54C4-6D25-7FC0-01DBA444E954}"/>
              </a:ext>
            </a:extLst>
          </p:cNvPr>
          <p:cNvPicPr>
            <a:picLocks noChangeAspect="1"/>
          </p:cNvPicPr>
          <p:nvPr/>
        </p:nvPicPr>
        <p:blipFill>
          <a:blip r:embed="rId3"/>
          <a:stretch>
            <a:fillRect/>
          </a:stretch>
        </p:blipFill>
        <p:spPr>
          <a:xfrm>
            <a:off x="540662" y="2447463"/>
            <a:ext cx="9172964" cy="1213639"/>
          </a:xfrm>
          <a:prstGeom prst="rect">
            <a:avLst/>
          </a:prstGeom>
        </p:spPr>
      </p:pic>
      <p:pic>
        <p:nvPicPr>
          <p:cNvPr id="10" name="Picture 9">
            <a:extLst>
              <a:ext uri="{FF2B5EF4-FFF2-40B4-BE49-F238E27FC236}">
                <a16:creationId xmlns:a16="http://schemas.microsoft.com/office/drawing/2014/main" id="{76391B98-438B-55C7-3E9D-B5FB01B9084F}"/>
              </a:ext>
            </a:extLst>
          </p:cNvPr>
          <p:cNvPicPr>
            <a:picLocks noChangeAspect="1"/>
          </p:cNvPicPr>
          <p:nvPr/>
        </p:nvPicPr>
        <p:blipFill>
          <a:blip r:embed="rId4"/>
          <a:stretch>
            <a:fillRect/>
          </a:stretch>
        </p:blipFill>
        <p:spPr>
          <a:xfrm>
            <a:off x="405496" y="4179089"/>
            <a:ext cx="10237519" cy="2200146"/>
          </a:xfrm>
          <a:prstGeom prst="rect">
            <a:avLst/>
          </a:prstGeom>
        </p:spPr>
      </p:pic>
    </p:spTree>
    <p:extLst>
      <p:ext uri="{BB962C8B-B14F-4D97-AF65-F5344CB8AC3E}">
        <p14:creationId xmlns:p14="http://schemas.microsoft.com/office/powerpoint/2010/main" val="585688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CD4F-E404-A796-22C1-A23C19BD22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53F19A-9C22-1233-89CA-57D6947AD9B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6C4E799-1E03-7C3D-B1C4-0E61F0FAAAC0}"/>
              </a:ext>
            </a:extLst>
          </p:cNvPr>
          <p:cNvPicPr>
            <a:picLocks noChangeAspect="1"/>
          </p:cNvPicPr>
          <p:nvPr/>
        </p:nvPicPr>
        <p:blipFill>
          <a:blip r:embed="rId2"/>
          <a:stretch>
            <a:fillRect/>
          </a:stretch>
        </p:blipFill>
        <p:spPr>
          <a:xfrm>
            <a:off x="323123" y="2189027"/>
            <a:ext cx="4863474" cy="2243300"/>
          </a:xfrm>
          <a:prstGeom prst="rect">
            <a:avLst/>
          </a:prstGeom>
        </p:spPr>
      </p:pic>
      <p:sp>
        <p:nvSpPr>
          <p:cNvPr id="7" name="TextBox 6">
            <a:extLst>
              <a:ext uri="{FF2B5EF4-FFF2-40B4-BE49-F238E27FC236}">
                <a16:creationId xmlns:a16="http://schemas.microsoft.com/office/drawing/2014/main" id="{E21648EF-1176-7701-6230-020CF06F6959}"/>
              </a:ext>
            </a:extLst>
          </p:cNvPr>
          <p:cNvSpPr txBox="1"/>
          <p:nvPr/>
        </p:nvSpPr>
        <p:spPr>
          <a:xfrm>
            <a:off x="5186597" y="288076"/>
            <a:ext cx="6520721" cy="628184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 This pulls the docker-</a:t>
            </a:r>
            <a:r>
              <a:rPr lang="en-US" dirty="0" err="1"/>
              <a:t>phpmyadmin</a:t>
            </a:r>
            <a:r>
              <a:rPr lang="en-US" dirty="0"/>
              <a:t> image by community member </a:t>
            </a:r>
            <a:r>
              <a:rPr lang="en-US" dirty="0" err="1"/>
              <a:t>corbinu</a:t>
            </a:r>
            <a:r>
              <a:rPr lang="en-US" dirty="0"/>
              <a:t>.</a:t>
            </a:r>
          </a:p>
          <a:p>
            <a:pPr marL="285750" indent="-285750" algn="just">
              <a:lnSpc>
                <a:spcPct val="150000"/>
              </a:lnSpc>
              <a:buFont typeface="Arial" panose="020B0604020202020204" pitchFamily="34" charset="0"/>
              <a:buChar char="•"/>
            </a:pPr>
            <a:r>
              <a:rPr lang="en-US" dirty="0"/>
              <a:t># It links the </a:t>
            </a:r>
            <a:r>
              <a:rPr lang="en-US" dirty="0" err="1"/>
              <a:t>phpmyadmin</a:t>
            </a:r>
            <a:r>
              <a:rPr lang="en-US" dirty="0"/>
              <a:t> container to the </a:t>
            </a:r>
            <a:r>
              <a:rPr lang="en-US" dirty="0" err="1"/>
              <a:t>wordpress_db</a:t>
            </a:r>
            <a:r>
              <a:rPr lang="en-US" dirty="0"/>
              <a:t> container with the alias "</a:t>
            </a:r>
            <a:r>
              <a:rPr lang="en-US" dirty="0" err="1"/>
              <a:t>mysql</a:t>
            </a:r>
            <a:r>
              <a:rPr lang="en-US" dirty="0"/>
              <a:t>."</a:t>
            </a:r>
          </a:p>
          <a:p>
            <a:pPr marL="285750" indent="-285750" algn="just">
              <a:lnSpc>
                <a:spcPct val="150000"/>
              </a:lnSpc>
              <a:buFont typeface="Arial" panose="020B0604020202020204" pitchFamily="34" charset="0"/>
              <a:buChar char="•"/>
            </a:pPr>
            <a:r>
              <a:rPr lang="en-US" dirty="0"/>
              <a:t># This allows </a:t>
            </a:r>
            <a:r>
              <a:rPr lang="en-US" dirty="0" err="1"/>
              <a:t>phpmyadmin</a:t>
            </a:r>
            <a:r>
              <a:rPr lang="en-US" dirty="0"/>
              <a:t> to communicate with the database container using the hostname "</a:t>
            </a:r>
            <a:r>
              <a:rPr lang="en-US" dirty="0" err="1"/>
              <a:t>mysql</a:t>
            </a:r>
            <a:r>
              <a:rPr lang="en-US" dirty="0"/>
              <a:t>."</a:t>
            </a:r>
          </a:p>
          <a:p>
            <a:pPr marL="285750" indent="-285750" algn="just">
              <a:lnSpc>
                <a:spcPct val="150000"/>
              </a:lnSpc>
              <a:buFont typeface="Arial" panose="020B0604020202020204" pitchFamily="34" charset="0"/>
              <a:buChar char="•"/>
            </a:pPr>
            <a:r>
              <a:rPr lang="en-US" dirty="0"/>
              <a:t># It maps port 80 of the </a:t>
            </a:r>
            <a:r>
              <a:rPr lang="en-US" dirty="0" err="1"/>
              <a:t>phpmyadmin</a:t>
            </a:r>
            <a:r>
              <a:rPr lang="en-US" dirty="0"/>
              <a:t> container to port 8181 of the host system for web access.</a:t>
            </a:r>
          </a:p>
          <a:p>
            <a:pPr marL="285750" indent="-285750" algn="just">
              <a:lnSpc>
                <a:spcPct val="150000"/>
              </a:lnSpc>
              <a:buFont typeface="Arial" panose="020B0604020202020204" pitchFamily="34" charset="0"/>
              <a:buChar char="•"/>
            </a:pPr>
            <a:r>
              <a:rPr lang="en-US" dirty="0"/>
              <a:t># Additionally, it sets environment variables for the MariaDB username and password.</a:t>
            </a:r>
          </a:p>
          <a:p>
            <a:pPr marL="285750" indent="-285750" algn="just">
              <a:lnSpc>
                <a:spcPct val="150000"/>
              </a:lnSpc>
              <a:buFont typeface="Arial" panose="020B0604020202020204" pitchFamily="34" charset="0"/>
              <a:buChar char="•"/>
            </a:pPr>
            <a:r>
              <a:rPr lang="en-US" dirty="0"/>
              <a:t># Unlike the WordPress image, this image does not automatically inherit MYSQL_ROOT_PASSWORD.</a:t>
            </a:r>
          </a:p>
          <a:p>
            <a:pPr marL="285750" indent="-285750" algn="just">
              <a:lnSpc>
                <a:spcPct val="150000"/>
              </a:lnSpc>
              <a:buFont typeface="Arial" panose="020B0604020202020204" pitchFamily="34" charset="0"/>
              <a:buChar char="•"/>
            </a:pPr>
            <a:r>
              <a:rPr lang="en-US" dirty="0"/>
              <a:t># Therefore, we manually copy the MYSQL_ROOT_PASSWORD value from the </a:t>
            </a:r>
            <a:r>
              <a:rPr lang="en-US" dirty="0" err="1"/>
              <a:t>wordpress_db</a:t>
            </a:r>
            <a:r>
              <a:rPr lang="en-US" dirty="0"/>
              <a:t> container</a:t>
            </a:r>
          </a:p>
          <a:p>
            <a:pPr marL="285750" indent="-285750" algn="just">
              <a:lnSpc>
                <a:spcPct val="150000"/>
              </a:lnSpc>
              <a:buFont typeface="Arial" panose="020B0604020202020204" pitchFamily="34" charset="0"/>
              <a:buChar char="•"/>
            </a:pPr>
            <a:r>
              <a:rPr lang="en-US" dirty="0"/>
              <a:t># and set the username to "root."</a:t>
            </a:r>
          </a:p>
        </p:txBody>
      </p:sp>
    </p:spTree>
    <p:extLst>
      <p:ext uri="{BB962C8B-B14F-4D97-AF65-F5344CB8AC3E}">
        <p14:creationId xmlns:p14="http://schemas.microsoft.com/office/powerpoint/2010/main" val="83955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C399-13E2-61F3-56B4-C7770C7CD5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0F613C-441A-202E-12F5-300910BC67E8}"/>
              </a:ext>
            </a:extLst>
          </p:cNvPr>
          <p:cNvSpPr>
            <a:spLocks noGrp="1"/>
          </p:cNvSpPr>
          <p:nvPr>
            <p:ph idx="1"/>
          </p:nvPr>
        </p:nvSpPr>
        <p:spPr/>
        <p:txBody>
          <a:bodyPr/>
          <a:lstStyle/>
          <a:p>
            <a:endParaRPr lang="en-US"/>
          </a:p>
        </p:txBody>
      </p:sp>
      <p:sp>
        <p:nvSpPr>
          <p:cNvPr id="6" name="TextBox 5">
            <a:extLst>
              <a:ext uri="{FF2B5EF4-FFF2-40B4-BE49-F238E27FC236}">
                <a16:creationId xmlns:a16="http://schemas.microsoft.com/office/drawing/2014/main" id="{C4FFE850-C55E-82DC-AF57-50AE28D0E6D6}"/>
              </a:ext>
            </a:extLst>
          </p:cNvPr>
          <p:cNvSpPr txBox="1"/>
          <p:nvPr/>
        </p:nvSpPr>
        <p:spPr>
          <a:xfrm>
            <a:off x="389744" y="782519"/>
            <a:ext cx="6265888" cy="400110"/>
          </a:xfrm>
          <a:prstGeom prst="rect">
            <a:avLst/>
          </a:prstGeom>
          <a:noFill/>
        </p:spPr>
        <p:txBody>
          <a:bodyPr wrap="square">
            <a:spAutoFit/>
          </a:bodyPr>
          <a:lstStyle/>
          <a:p>
            <a:r>
              <a:rPr lang="en-US" sz="2000" b="1" dirty="0">
                <a:solidFill>
                  <a:schemeClr val="accent1"/>
                </a:solidFill>
              </a:rPr>
              <a:t>Now start the application group: </a:t>
            </a:r>
            <a:r>
              <a:rPr lang="en-US" sz="2000" dirty="0"/>
              <a:t>docker-compose up -d</a:t>
            </a:r>
          </a:p>
        </p:txBody>
      </p:sp>
      <p:pic>
        <p:nvPicPr>
          <p:cNvPr id="7" name="Picture 6">
            <a:extLst>
              <a:ext uri="{FF2B5EF4-FFF2-40B4-BE49-F238E27FC236}">
                <a16:creationId xmlns:a16="http://schemas.microsoft.com/office/drawing/2014/main" id="{76981D36-B095-C7B6-210E-54D6E8CCF71F}"/>
              </a:ext>
            </a:extLst>
          </p:cNvPr>
          <p:cNvPicPr>
            <a:picLocks noChangeAspect="1"/>
          </p:cNvPicPr>
          <p:nvPr/>
        </p:nvPicPr>
        <p:blipFill>
          <a:blip r:embed="rId2"/>
          <a:stretch>
            <a:fillRect/>
          </a:stretch>
        </p:blipFill>
        <p:spPr>
          <a:xfrm>
            <a:off x="759502" y="1533366"/>
            <a:ext cx="10333220" cy="1895634"/>
          </a:xfrm>
          <a:prstGeom prst="rect">
            <a:avLst/>
          </a:prstGeom>
        </p:spPr>
      </p:pic>
      <p:sp>
        <p:nvSpPr>
          <p:cNvPr id="9" name="TextBox 8">
            <a:extLst>
              <a:ext uri="{FF2B5EF4-FFF2-40B4-BE49-F238E27FC236}">
                <a16:creationId xmlns:a16="http://schemas.microsoft.com/office/drawing/2014/main" id="{B1A57252-B192-9028-0AEA-B8302203182C}"/>
              </a:ext>
            </a:extLst>
          </p:cNvPr>
          <p:cNvSpPr txBox="1"/>
          <p:nvPr/>
        </p:nvSpPr>
        <p:spPr>
          <a:xfrm>
            <a:off x="389743" y="4035384"/>
            <a:ext cx="11197653" cy="646331"/>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That’s all we have to do. </a:t>
            </a:r>
            <a:r>
              <a:rPr lang="en-US" dirty="0">
                <a:solidFill>
                  <a:srgbClr val="4A4A4A"/>
                </a:solidFill>
                <a:latin typeface="Open Sans" panose="020B0606030504020204" pitchFamily="34" charset="0"/>
              </a:rPr>
              <a:t>We</a:t>
            </a:r>
            <a:r>
              <a:rPr lang="en-US" b="0" i="0" dirty="0">
                <a:solidFill>
                  <a:srgbClr val="4A4A4A"/>
                </a:solidFill>
                <a:effectLst/>
                <a:latin typeface="Open Sans" panose="020B0606030504020204" pitchFamily="34" charset="0"/>
              </a:rPr>
              <a:t> can add as many containers as we like this way ,and link them all up in any way we please.</a:t>
            </a:r>
            <a:endParaRPr lang="en-US" dirty="0"/>
          </a:p>
        </p:txBody>
      </p:sp>
    </p:spTree>
    <p:extLst>
      <p:ext uri="{BB962C8B-B14F-4D97-AF65-F5344CB8AC3E}">
        <p14:creationId xmlns:p14="http://schemas.microsoft.com/office/powerpoint/2010/main" val="2848594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6E53-E92F-4AE5-584C-C5E94A685A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07176F-55AB-E8AE-132C-999E1571397F}"/>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B25D7FBD-88A4-1A0E-621F-80C57A8EE979}"/>
              </a:ext>
            </a:extLst>
          </p:cNvPr>
          <p:cNvSpPr txBox="1"/>
          <p:nvPr/>
        </p:nvSpPr>
        <p:spPr>
          <a:xfrm>
            <a:off x="164890" y="1130881"/>
            <a:ext cx="11707319" cy="923330"/>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Now, in the browser go to port 8080, using the public IP or host name:</a:t>
            </a:r>
          </a:p>
          <a:p>
            <a:endParaRPr lang="en-US" dirty="0">
              <a:solidFill>
                <a:srgbClr val="4A4A4A"/>
              </a:solidFill>
              <a:latin typeface="Open Sans" panose="020B0606030504020204" pitchFamily="34" charset="0"/>
            </a:endParaRPr>
          </a:p>
          <a:p>
            <a:r>
              <a:rPr lang="en-US" dirty="0"/>
              <a:t>localhost:8080</a:t>
            </a:r>
          </a:p>
        </p:txBody>
      </p:sp>
      <p:pic>
        <p:nvPicPr>
          <p:cNvPr id="13315" name="Picture 3" descr="WordPress - Docker Container - Edureka">
            <a:extLst>
              <a:ext uri="{FF2B5EF4-FFF2-40B4-BE49-F238E27FC236}">
                <a16:creationId xmlns:a16="http://schemas.microsoft.com/office/drawing/2014/main" id="{07683F41-861E-B7B9-45F3-E4A187173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380" y="2062319"/>
            <a:ext cx="9403830" cy="36648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B5BC3F7-D018-FB55-BB0E-CF5D736C3803}"/>
              </a:ext>
            </a:extLst>
          </p:cNvPr>
          <p:cNvSpPr txBox="1"/>
          <p:nvPr/>
        </p:nvSpPr>
        <p:spPr>
          <a:xfrm>
            <a:off x="3162924" y="6051242"/>
            <a:ext cx="6265888" cy="369332"/>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Fill this form and click on install WordPress.</a:t>
            </a:r>
            <a:endParaRPr lang="en-US" dirty="0"/>
          </a:p>
        </p:txBody>
      </p:sp>
    </p:spTree>
    <p:extLst>
      <p:ext uri="{BB962C8B-B14F-4D97-AF65-F5344CB8AC3E}">
        <p14:creationId xmlns:p14="http://schemas.microsoft.com/office/powerpoint/2010/main" val="4053915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F5735-7727-CFF3-6686-EEF226E116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FD001F-526E-F0F9-4210-6950043B77B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3D6516C-F403-F9D7-47D1-55E7D3F62E16}"/>
              </a:ext>
            </a:extLst>
          </p:cNvPr>
          <p:cNvPicPr>
            <a:picLocks noChangeAspect="1"/>
          </p:cNvPicPr>
          <p:nvPr/>
        </p:nvPicPr>
        <p:blipFill>
          <a:blip r:embed="rId2"/>
          <a:stretch>
            <a:fillRect/>
          </a:stretch>
        </p:blipFill>
        <p:spPr>
          <a:xfrm>
            <a:off x="1034320" y="1197584"/>
            <a:ext cx="9697825" cy="3794141"/>
          </a:xfrm>
          <a:prstGeom prst="rect">
            <a:avLst/>
          </a:prstGeom>
        </p:spPr>
      </p:pic>
    </p:spTree>
    <p:extLst>
      <p:ext uri="{BB962C8B-B14F-4D97-AF65-F5344CB8AC3E}">
        <p14:creationId xmlns:p14="http://schemas.microsoft.com/office/powerpoint/2010/main" val="3421696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F1A95-3B61-558E-31BD-D2F45D6CB4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C10835-B648-D749-A52C-30B0E741420C}"/>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8E004C47-3718-F998-EE9B-C3E9704E0563}"/>
              </a:ext>
            </a:extLst>
          </p:cNvPr>
          <p:cNvSpPr txBox="1"/>
          <p:nvPr/>
        </p:nvSpPr>
        <p:spPr>
          <a:xfrm>
            <a:off x="254832" y="1022361"/>
            <a:ext cx="11302584" cy="646331"/>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Once it is finished, visit the server’s IP address again (this time using port 8181, e.g. localhost:8181). We’ll be greeted by the phpMyAdmin login screen:</a:t>
            </a:r>
            <a:endParaRPr lang="en-US" dirty="0"/>
          </a:p>
        </p:txBody>
      </p:sp>
      <p:pic>
        <p:nvPicPr>
          <p:cNvPr id="6" name="Picture 5">
            <a:extLst>
              <a:ext uri="{FF2B5EF4-FFF2-40B4-BE49-F238E27FC236}">
                <a16:creationId xmlns:a16="http://schemas.microsoft.com/office/drawing/2014/main" id="{07E4A4AA-679D-9A4B-4008-E0E9CB2B4EE6}"/>
              </a:ext>
            </a:extLst>
          </p:cNvPr>
          <p:cNvPicPr>
            <a:picLocks noChangeAspect="1"/>
          </p:cNvPicPr>
          <p:nvPr/>
        </p:nvPicPr>
        <p:blipFill>
          <a:blip r:embed="rId2"/>
          <a:stretch>
            <a:fillRect/>
          </a:stretch>
        </p:blipFill>
        <p:spPr>
          <a:xfrm>
            <a:off x="1454046" y="2064195"/>
            <a:ext cx="9524453" cy="3609894"/>
          </a:xfrm>
          <a:prstGeom prst="rect">
            <a:avLst/>
          </a:prstGeom>
        </p:spPr>
      </p:pic>
    </p:spTree>
    <p:extLst>
      <p:ext uri="{BB962C8B-B14F-4D97-AF65-F5344CB8AC3E}">
        <p14:creationId xmlns:p14="http://schemas.microsoft.com/office/powerpoint/2010/main" val="4030585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09E1B-87E0-AE7B-AAA8-6FD90A2343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6DFBB4-CC80-0521-8ECD-CA4F1AE61602}"/>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C9A9316-97B3-C575-150D-2B09ED69D23C}"/>
              </a:ext>
            </a:extLst>
          </p:cNvPr>
          <p:cNvSpPr txBox="1"/>
          <p:nvPr/>
        </p:nvSpPr>
        <p:spPr>
          <a:xfrm>
            <a:off x="389744" y="1180077"/>
            <a:ext cx="11467476" cy="1477328"/>
          </a:xfrm>
          <a:prstGeom prst="rect">
            <a:avLst/>
          </a:prstGeom>
          <a:noFill/>
        </p:spPr>
        <p:txBody>
          <a:bodyPr wrap="square">
            <a:spAutoFit/>
          </a:bodyPr>
          <a:lstStyle/>
          <a:p>
            <a:r>
              <a:rPr lang="en-US" b="0" i="0" dirty="0">
                <a:solidFill>
                  <a:srgbClr val="4A4A4A"/>
                </a:solidFill>
                <a:effectLst/>
                <a:latin typeface="Open Sans" panose="020B0606030504020204" pitchFamily="34" charset="0"/>
              </a:rPr>
              <a:t>Go ahead and login using username root and password we have set in the YAML file, and we’ll be able to browse your database.</a:t>
            </a:r>
          </a:p>
          <a:p>
            <a:endParaRPr lang="en-US" dirty="0">
              <a:solidFill>
                <a:srgbClr val="4A4A4A"/>
              </a:solidFill>
              <a:latin typeface="Open Sans" panose="020B0606030504020204" pitchFamily="34" charset="0"/>
            </a:endParaRPr>
          </a:p>
          <a:p>
            <a:r>
              <a:rPr lang="en-US" b="0" i="0" dirty="0">
                <a:solidFill>
                  <a:srgbClr val="4A4A4A"/>
                </a:solidFill>
                <a:effectLst/>
                <a:latin typeface="Open Sans" panose="020B0606030504020204" pitchFamily="34" charset="0"/>
              </a:rPr>
              <a:t>We notice that the server includes a </a:t>
            </a:r>
            <a:r>
              <a:rPr lang="en-US" b="0" i="0" dirty="0" err="1">
                <a:solidFill>
                  <a:srgbClr val="4A4A4A"/>
                </a:solidFill>
                <a:effectLst/>
                <a:latin typeface="Open Sans" panose="020B0606030504020204" pitchFamily="34" charset="0"/>
              </a:rPr>
              <a:t>wordpress</a:t>
            </a:r>
            <a:r>
              <a:rPr lang="en-US" b="0" i="0" dirty="0">
                <a:solidFill>
                  <a:srgbClr val="4A4A4A"/>
                </a:solidFill>
                <a:effectLst/>
                <a:latin typeface="Open Sans" panose="020B0606030504020204" pitchFamily="34" charset="0"/>
              </a:rPr>
              <a:t> database, which contains all the data from our WordPress install.</a:t>
            </a:r>
            <a:endParaRPr lang="en-US" dirty="0"/>
          </a:p>
        </p:txBody>
      </p:sp>
      <p:pic>
        <p:nvPicPr>
          <p:cNvPr id="6" name="Picture 5">
            <a:extLst>
              <a:ext uri="{FF2B5EF4-FFF2-40B4-BE49-F238E27FC236}">
                <a16:creationId xmlns:a16="http://schemas.microsoft.com/office/drawing/2014/main" id="{7709A52C-B8B3-B853-DEF5-3E4760F1153E}"/>
              </a:ext>
            </a:extLst>
          </p:cNvPr>
          <p:cNvPicPr>
            <a:picLocks noChangeAspect="1"/>
          </p:cNvPicPr>
          <p:nvPr/>
        </p:nvPicPr>
        <p:blipFill>
          <a:blip r:embed="rId2"/>
          <a:stretch>
            <a:fillRect/>
          </a:stretch>
        </p:blipFill>
        <p:spPr>
          <a:xfrm>
            <a:off x="1514006" y="2800951"/>
            <a:ext cx="9778584" cy="3419085"/>
          </a:xfrm>
          <a:prstGeom prst="rect">
            <a:avLst/>
          </a:prstGeom>
        </p:spPr>
      </p:pic>
    </p:spTree>
    <p:extLst>
      <p:ext uri="{BB962C8B-B14F-4D97-AF65-F5344CB8AC3E}">
        <p14:creationId xmlns:p14="http://schemas.microsoft.com/office/powerpoint/2010/main" val="2348888206"/>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4F966D9-1D91-48A2-B7DB-CE5021B004DA}" vid="{E4689CB6-D770-4E2B-8CAB-A76E00E823CC}"/>
    </a:ext>
  </a:extLst>
</a:theme>
</file>

<file path=docProps/app.xml><?xml version="1.0" encoding="utf-8"?>
<Properties xmlns="http://schemas.openxmlformats.org/officeDocument/2006/extended-properties" xmlns:vt="http://schemas.openxmlformats.org/officeDocument/2006/docPropsVTypes">
  <Template>Theme1</Template>
  <TotalTime>4374</TotalTime>
  <Words>1236</Words>
  <Application>Microsoft Office PowerPoint</Application>
  <PresentationFormat>Widescreen</PresentationFormat>
  <Paragraphs>149</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Open Sans</vt:lpstr>
      <vt:lpstr>Theme1</vt:lpstr>
      <vt:lpstr>DOCKER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Mitali Chugh</dc:creator>
  <cp:lastModifiedBy>Mitali Chugh</cp:lastModifiedBy>
  <cp:revision>23</cp:revision>
  <dcterms:created xsi:type="dcterms:W3CDTF">2025-03-07T11:10:16Z</dcterms:created>
  <dcterms:modified xsi:type="dcterms:W3CDTF">2025-03-24T11:00:47Z</dcterms:modified>
</cp:coreProperties>
</file>